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d53ee60-3303-0155-5b59-a46b708e20ad}">
          <p14:sldIdLst>
            <p14:sldId id="256"/>
          </p14:sldIdLst>
        </p14:section>
        <p14:section name="Problem and solution" id="{a54d75cb-4017-d3a8-2f4a-caff8585107c}">
          <p14:sldIdLst>
            <p14:sldId id="257"/>
            <p14:sldId id="258"/>
          </p14:sldIdLst>
        </p14:section>
        <p14:section name="How it works" id="{a5c82d15-8b7c-c405-4596-c728188f8254}">
          <p14:sldIdLst>
            <p14:sldId id="259"/>
          </p14:sldIdLst>
        </p14:section>
        <p14:section name="What you see" id="{44d38b4b-54a6-f611-03b8-63d1dde26ff0}">
          <p14:sldIdLst>
            <p14:sldId id="260"/>
          </p14:sldIdLst>
        </p14:section>
        <p14:section name="Live demo" id="{18f9833b-b84e-6934-4490-83e987987fb7}">
          <p14:sldIdLst>
            <p14:sldId id="261"/>
          </p14:sldIdLst>
        </p14:section>
        <p14:section name="Close" id="{4322ba5b-bddd-9572-8d5a-e1a340cbe578}">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Gisele opens. "We are KingaAPI: Deborah, Sifa and Gisele. Kinga means protection in Swahili."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Gisele, 40 seconds. "African apps depend on payment APIs that fail often. One aggregator logged 608 mobile money operator incidents in 90 days, and 41% of teams learn about outages from their own customers. When a payment fails, a developer cannot tell quickly whether their code broke or the provider 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Gisele, 20 seconds. "KingaAPI. Kinga means protection. It monitors the provider APIs you depend on every minute and tells you whose problem a failure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Deborah, 40 seconds. "Every minute, KingaAPI calls each endpoint a developer depends on, exactly as their app would, with their method, headers and body. We don't just check whether it answered. We check the status code, the speed, and whether the JSON still has the fields their code needs. Every failure is classified: wrong credentials, rate limit, provider error, timeout, or a silent schema change. That classification drives the report: instead of a vague error, the developer gets the exact cause and the next thing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Sifa, 40 seconds. "This is what a developer sees. Every payment API they depend on is checked once a minute: status, speed and response format. When M-Pesa goes down, they don't get a vague error. They get this banner: it's them, not you. One click opens the Dependency Failure Report: what we expected, what came back, the exact response, and what to check next. On a phone it works the same, so a developer can tell in seconds, wherever they are, whether to fix their code or just wait for the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Gisele, 2 minutes. Before you start: Demo control, Reset everything, open the Dashboard as "you".
0:00 Dashboard: "This developer depends on M-Pesa, MTN MoMo, Flutterwave and Paystack. All green, 24 hours of history."
0:15 Demo, M-Pesa, 503 error, back to Dashboard: "Now M-Pesa goes down, for everyone."
0:25 Point at the purple banner: "KingaAPI sees 6 of 6 M-Pesa monitors from 4 different developers failing at once. So it tells you: it's them, not you."
0:40 View failure report: "Expected 200, got 503, here's the response body and what to do: retry with backoff, queue payments, check the status page."
1:00 Demo, Reset everything, then Break my key for MTN MoMo: "Different story: this time only my key is wrong."
1:10 Open the MTN monitor's report: "Only my monitor fails. 4 other MTN monitors from 3 developers are fine, so KingaAPI says probably your setup, and points to credentials and token expiry."
1:30 Demo, Paystack, Schema change, open the Paystack report: "The scariest failure: HTTP 200, but the fields changed. KingaAPI lists exactly which fields disappeared."
1:45 Shared setups page: "Developers share ready-made setups for African providers. One click and you're monitoring."
2:00 Reset everything.
If the live demo fails, play docs/demo/kinga-demo-backup.mp4.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Gisele, 20 seconds. "What makes KingaAPI different is shared data across developers. Generic tools like UptimeRobot only see your endpoint. KingaAPI sees the whole community, so it can say it's them, not you. And it is built for M-Pesa, MoMo, Airtel, Orange, Flutterwave, Paystack and Wave."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20 seconds. "Next: real accounts, SMS and WhatsApp alerts, public status pages per provider, and more providers. Thank you." Then take questions; the answers to likely judge questions are in each person's spec in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_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8046720" cy="91440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548640" y="2834640"/>
            <a:ext cx="804672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74320"/>
          </a:xfrm>
          <a:prstGeom prst="rect">
            <a:avLst/>
          </a:prstGeom>
          <a:noFill/>
          <a:ln/>
        </p:spPr>
        <p:txBody>
          <a:bodyPr wrap="square" rtlCol="0"/>
          <a:lstStyle>
            <a:lvl1pPr indent="0" marL="0">
              <a:buNone/>
              <a:defRPr lang="en-US" sz="1100" b="1" spc="200" kern="0" dirty="0">
                <a:solidFill>
                  <a:schemeClr val="accent5"/>
                </a:solidFill>
              </a:defRPr>
            </a:lvl1pPr>
          </a:lstStyle>
          <a:p>
            <a:pPr indent="0" marL="0">
              <a:buNone/>
            </a:pP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Ideborah-tech/kinga-api"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KingaAPI logo" descr="KingaAPI shield logo">    </p:cNvPr>
          <p:cNvPicPr>
            <a:picLocks noChangeAspect="1"/>
          </p:cNvPicPr>
          <p:nvPr/>
        </p:nvPicPr>
        <p:blipFill>
          <a:blip r:embed="rId1"/>
          <a:stretch>
            <a:fillRect/>
          </a:stretch>
        </p:blipFill>
        <p:spPr>
          <a:xfrm>
            <a:off x="548640" y="822960"/>
            <a:ext cx="914400" cy="914400"/>
          </a:xfrm>
          <a:prstGeom prst="rect">
            <a:avLst/>
          </a:prstGeom>
        </p:spPr>
      </p:pic>
      <p:sp>
        <p:nvSpPr>
          <p:cNvPr id="3" name="Text 0"/>
          <p:cNvSpPr/>
          <p:nvPr>
            <p:ph idx="100" type="title" hasCustomPrompt="1"/>
          </p:nvPr>
        </p:nvSpPr>
        <p:spPr>
          <a:xfrm>
            <a:off x="548640" y="1874520"/>
            <a:ext cx="8046720" cy="914400"/>
          </a:xfrm>
          <a:prstGeom prst="rect">
            <a:avLst/>
          </a:prstGeom>
          <a:noFill/>
          <a:ln/>
        </p:spPr>
        <p:txBody>
          <a:bodyPr wrap="square" lIns="0" tIns="0" rIns="0" bIns="0" rtlCol="0" anchor="ctr"/>
          <a:lstStyle/>
          <a:p>
            <a:pPr algn="l" indent="0" marL="0">
              <a:buNone/>
            </a:pPr>
            <a:r>
              <a:rPr lang="en-US" sz="5400" b="1" dirty="0">
                <a:solidFill>
                  <a:schemeClr val="bg1"/>
                </a:solidFill>
              </a:rPr>
              <a:t>KingaAPI</a:t>
            </a:r>
            <a:endParaRPr lang="en-US" sz="5400" dirty="0"/>
          </a:p>
        </p:txBody>
      </p:sp>
      <p:sp>
        <p:nvSpPr>
          <p:cNvPr id="4"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indent="0" marL="0">
              <a:buNone/>
            </a:pPr>
            <a:r>
              <a:rPr lang="en-US" sz="2000" b="1" dirty="0">
                <a:solidFill>
                  <a:schemeClr val="accent1"/>
                </a:solidFill>
              </a:rPr>
              <a:t>It’s them, not you.</a:t>
            </a:r>
            <a:endParaRPr lang="en-US" sz="2000" dirty="0"/>
          </a:p>
          <a:p>
            <a:pPr indent="0" marL="0">
              <a:buNone/>
            </a:pPr>
            <a:r>
              <a:rPr lang="en-US" sz="2000" dirty="0">
                <a:solidFill>
                  <a:schemeClr val="bg2"/>
                </a:solidFill>
              </a:rPr>
              <a:t>API dependency monitoring for African developers</a:t>
            </a:r>
            <a:endParaRPr lang="en-US" sz="2000" dirty="0"/>
          </a:p>
        </p:txBody>
      </p:sp>
      <p:sp>
        <p:nvSpPr>
          <p:cNvPr id="5" name="Team"/>
          <p:cNvSpPr txBox="1"/>
          <p:nvPr/>
        </p:nvSpPr>
        <p:spPr>
          <a:xfrm>
            <a:off x="548640" y="4251960"/>
            <a:ext cx="4572000" cy="320040"/>
          </a:xfrm>
          <a:prstGeom prst="rect">
            <a:avLst/>
          </a:prstGeom>
          <a:noFill/>
          <a:ln/>
        </p:spPr>
        <p:txBody>
          <a:bodyPr wrap="square" lIns="0" tIns="0" rIns="0" bIns="0" rtlCol="0" anchor="ctr"/>
          <a:lstStyle/>
          <a:p>
            <a:pPr indent="0" marL="0">
              <a:buNone/>
            </a:pPr>
            <a:r>
              <a:rPr lang="en-US" sz="1400" b="1" dirty="0">
                <a:solidFill>
                  <a:schemeClr val="bg1"/>
                </a:solidFill>
              </a:rPr>
              <a:t>Deborah  ·  Sifa  ·  Gisele</a:t>
            </a:r>
            <a:endParaRPr lang="en-US" sz="1400" dirty="0"/>
          </a:p>
        </p:txBody>
      </p:sp>
      <p:sp>
        <p:nvSpPr>
          <p:cNvPr id="6" name="Meaning"/>
          <p:cNvSpPr txBox="1"/>
          <p:nvPr/>
        </p:nvSpPr>
        <p:spPr>
          <a:xfrm>
            <a:off x="4937760" y="4251960"/>
            <a:ext cx="3657600" cy="320040"/>
          </a:xfrm>
          <a:prstGeom prst="rect">
            <a:avLst/>
          </a:prstGeom>
          <a:noFill/>
          <a:ln/>
        </p:spPr>
        <p:txBody>
          <a:bodyPr wrap="square" lIns="0" tIns="0" rIns="0" bIns="0" rtlCol="0" anchor="ctr"/>
          <a:lstStyle/>
          <a:p>
            <a:pPr algn="r" indent="0" marL="0">
              <a:buNone/>
            </a:pPr>
            <a:r>
              <a:rPr lang="en-US" sz="1400" i="1" dirty="0">
                <a:solidFill>
                  <a:schemeClr val="bg2"/>
                </a:solidFill>
              </a:rPr>
              <a:t>kinga = “protection” in Swahili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74320"/>
          </a:xfrm>
          <a:prstGeom prst="rect">
            <a:avLst/>
          </a:prstGeom>
          <a:noFill/>
          <a:ln/>
        </p:spPr>
        <p:txBody>
          <a:bodyPr wrap="square" lIns="0" tIns="0" rIns="0" bIns="0" rtlCol="0"/>
          <a:lstStyle/>
          <a:p>
            <a:pPr indent="0" marL="0">
              <a:buNone/>
            </a:pPr>
            <a:r>
              <a:rPr lang="en-US" sz="1100" b="1" spc="200" kern="0" dirty="0">
                <a:solidFill>
                  <a:schemeClr val="accent5"/>
                </a:solidFill>
              </a:rPr>
              <a:t>GISELE · 40 S · THE PROBLEM</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Payment APIs fail. Often.</a:t>
            </a:r>
            <a:endParaRPr lang="en-US" sz="3200" dirty="0"/>
          </a:p>
        </p:txBody>
      </p:sp>
      <p:sp>
        <p:nvSpPr>
          <p:cNvPr id="4" name="Stat card incidents"/>
          <p:cNvSpPr/>
          <p:nvPr/>
        </p:nvSpPr>
        <p:spPr>
          <a:xfrm>
            <a:off x="457200" y="1371600"/>
            <a:ext cx="2514600" cy="1508760"/>
          </a:xfrm>
          <a:prstGeom prst="roundRect">
            <a:avLst>
              <a:gd name="adj" fmla="val 7273"/>
            </a:avLst>
          </a:prstGeom>
          <a:solidFill>
            <a:schemeClr val="bg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5" name="Stat 608"/>
          <p:cNvSpPr txBox="1"/>
          <p:nvPr/>
        </p:nvSpPr>
        <p:spPr>
          <a:xfrm>
            <a:off x="640080" y="1463040"/>
            <a:ext cx="2194560" cy="777240"/>
          </a:xfrm>
          <a:prstGeom prst="rect">
            <a:avLst/>
          </a:prstGeom>
          <a:noFill/>
          <a:ln/>
        </p:spPr>
        <p:txBody>
          <a:bodyPr wrap="square" lIns="0" tIns="0" rIns="0" bIns="0" rtlCol="0" anchor="ctr"/>
          <a:lstStyle/>
          <a:p>
            <a:pPr indent="0" marL="0">
              <a:buNone/>
            </a:pPr>
            <a:r>
              <a:rPr lang="en-US" sz="5400" b="1" dirty="0">
                <a:solidFill>
                  <a:schemeClr val="accent3"/>
                </a:solidFill>
              </a:rPr>
              <a:t>608</a:t>
            </a:r>
            <a:endParaRPr lang="en-US" sz="5400" dirty="0"/>
          </a:p>
        </p:txBody>
      </p:sp>
      <p:sp>
        <p:nvSpPr>
          <p:cNvPr id="6" name="Stat 608 label"/>
          <p:cNvSpPr txBox="1"/>
          <p:nvPr/>
        </p:nvSpPr>
        <p:spPr>
          <a:xfrm>
            <a:off x="640080" y="2240280"/>
            <a:ext cx="2194560" cy="548640"/>
          </a:xfrm>
          <a:prstGeom prst="rect">
            <a:avLst/>
          </a:prstGeom>
          <a:noFill/>
          <a:ln/>
        </p:spPr>
        <p:txBody>
          <a:bodyPr wrap="square" lIns="0" tIns="0" rIns="0" bIns="0" rtlCol="0" anchor="ctr"/>
          <a:lstStyle/>
          <a:p>
            <a:pPr indent="0" marL="0">
              <a:buNone/>
            </a:pPr>
            <a:r>
              <a:rPr lang="en-US" sz="1300" dirty="0">
                <a:solidFill>
                  <a:schemeClr val="tx2"/>
                </a:solidFill>
              </a:rPr>
              <a:t>mobile money operator incidents in 90 days, logged by one aggregator</a:t>
            </a:r>
            <a:endParaRPr lang="en-US" sz="1300" dirty="0"/>
          </a:p>
        </p:txBody>
      </p:sp>
      <p:sp>
        <p:nvSpPr>
          <p:cNvPr id="7" name="Stat card customers"/>
          <p:cNvSpPr/>
          <p:nvPr/>
        </p:nvSpPr>
        <p:spPr>
          <a:xfrm>
            <a:off x="457200" y="3063240"/>
            <a:ext cx="2514600" cy="1508760"/>
          </a:xfrm>
          <a:prstGeom prst="roundRect">
            <a:avLst>
              <a:gd name="adj" fmla="val 7273"/>
            </a:avLst>
          </a:prstGeom>
          <a:solidFill>
            <a:schemeClr val="bg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8" name="Stat 41"/>
          <p:cNvSpPr txBox="1"/>
          <p:nvPr/>
        </p:nvSpPr>
        <p:spPr>
          <a:xfrm>
            <a:off x="640080" y="3154680"/>
            <a:ext cx="2194560" cy="777240"/>
          </a:xfrm>
          <a:prstGeom prst="rect">
            <a:avLst/>
          </a:prstGeom>
          <a:noFill/>
          <a:ln/>
        </p:spPr>
        <p:txBody>
          <a:bodyPr wrap="square" lIns="0" tIns="0" rIns="0" bIns="0" rtlCol="0" anchor="ctr"/>
          <a:lstStyle/>
          <a:p>
            <a:pPr indent="0" marL="0">
              <a:buNone/>
            </a:pPr>
            <a:r>
              <a:rPr lang="en-US" sz="5400" b="1" dirty="0">
                <a:solidFill>
                  <a:schemeClr val="accent2"/>
                </a:solidFill>
              </a:rPr>
              <a:t>41%</a:t>
            </a:r>
            <a:endParaRPr lang="en-US" sz="5400" dirty="0"/>
          </a:p>
        </p:txBody>
      </p:sp>
      <p:sp>
        <p:nvSpPr>
          <p:cNvPr id="9" name="Stat 41 label"/>
          <p:cNvSpPr txBox="1"/>
          <p:nvPr/>
        </p:nvSpPr>
        <p:spPr>
          <a:xfrm>
            <a:off x="640080" y="3931920"/>
            <a:ext cx="2194560" cy="548640"/>
          </a:xfrm>
          <a:prstGeom prst="rect">
            <a:avLst/>
          </a:prstGeom>
          <a:noFill/>
          <a:ln/>
        </p:spPr>
        <p:txBody>
          <a:bodyPr wrap="square" lIns="0" tIns="0" rIns="0" bIns="0" rtlCol="0" anchor="ctr"/>
          <a:lstStyle/>
          <a:p>
            <a:pPr indent="0" marL="0">
              <a:buNone/>
            </a:pPr>
            <a:r>
              <a:rPr lang="en-US" sz="1300" dirty="0">
                <a:solidFill>
                  <a:schemeClr val="tx2"/>
                </a:solidFill>
              </a:rPr>
              <a:t>of teams learn about outages from their customers</a:t>
            </a:r>
            <a:endParaRPr lang="en-US" sz="1300" dirty="0"/>
          </a:p>
        </p:txBody>
      </p:sp>
      <p:sp>
        <p:nvSpPr>
          <p:cNvPr id="10" name="Developer question card"/>
          <p:cNvSpPr/>
          <p:nvPr/>
        </p:nvSpPr>
        <p:spPr>
          <a:xfrm>
            <a:off x="3246120" y="1371600"/>
            <a:ext cx="5440680" cy="3200400"/>
          </a:xfrm>
          <a:prstGeom prst="roundRect">
            <a:avLst>
              <a:gd name="adj" fmla="val 3429"/>
            </a:avLst>
          </a:prstGeom>
          <a:solidFill>
            <a:schemeClr val="tx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11" name="Scenario"/>
          <p:cNvSpPr txBox="1"/>
          <p:nvPr/>
        </p:nvSpPr>
        <p:spPr>
          <a:xfrm>
            <a:off x="3566160" y="1645920"/>
            <a:ext cx="4846320" cy="411480"/>
          </a:xfrm>
          <a:prstGeom prst="rect">
            <a:avLst/>
          </a:prstGeom>
          <a:noFill/>
          <a:ln/>
        </p:spPr>
        <p:txBody>
          <a:bodyPr wrap="square" lIns="0" tIns="0" rIns="0" bIns="0" rtlCol="0" anchor="ctr"/>
          <a:lstStyle/>
          <a:p>
            <a:pPr indent="0" marL="0">
              <a:buNone/>
            </a:pPr>
            <a:r>
              <a:rPr lang="en-US" sz="1800" dirty="0">
                <a:solidFill>
                  <a:schemeClr val="bg2"/>
                </a:solidFill>
              </a:rPr>
              <a:t>A payment just failed.</a:t>
            </a:r>
            <a:endParaRPr lang="en-US" sz="1800" dirty="0"/>
          </a:p>
        </p:txBody>
      </p:sp>
      <p:sp>
        <p:nvSpPr>
          <p:cNvPr id="12" name="Question"/>
          <p:cNvSpPr txBox="1"/>
          <p:nvPr/>
        </p:nvSpPr>
        <p:spPr>
          <a:xfrm>
            <a:off x="3566160" y="2103120"/>
            <a:ext cx="4846320" cy="100584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Is it my code, or is M-Pesa down?</a:t>
            </a:r>
            <a:endParaRPr lang="en-US" sz="3000" dirty="0"/>
          </a:p>
        </p:txBody>
      </p:sp>
      <p:sp>
        <p:nvSpPr>
          <p:cNvPr id="13" name="Cost"/>
          <p:cNvSpPr txBox="1"/>
          <p:nvPr/>
        </p:nvSpPr>
        <p:spPr>
          <a:xfrm>
            <a:off x="3566160" y="3246120"/>
            <a:ext cx="4846320" cy="640080"/>
          </a:xfrm>
          <a:prstGeom prst="rect">
            <a:avLst/>
          </a:prstGeom>
          <a:noFill/>
          <a:ln/>
        </p:spPr>
        <p:txBody>
          <a:bodyPr wrap="square" lIns="0" tIns="0" rIns="0" bIns="0" rtlCol="0" anchor="ctr"/>
          <a:lstStyle/>
          <a:p>
            <a:pPr indent="0" marL="0">
              <a:buNone/>
            </a:pPr>
            <a:r>
              <a:rPr lang="en-US" sz="1500" dirty="0">
                <a:solidFill>
                  <a:schemeClr val="bg2"/>
                </a:solidFill>
              </a:rPr>
              <a:t>Developers debug their own code for hours,</a:t>
            </a:r>
            <a:endParaRPr lang="en-US" sz="1500" dirty="0"/>
          </a:p>
          <a:p>
            <a:pPr indent="0" marL="0">
              <a:buNone/>
            </a:pPr>
            <a:r>
              <a:rPr lang="en-US" sz="1500" dirty="0">
                <a:solidFill>
                  <a:schemeClr val="bg2"/>
                </a:solidFill>
              </a:rPr>
              <a:t>while customers abandon checkout.</a:t>
            </a:r>
            <a:endParaRPr lang="en-US" sz="1500" dirty="0"/>
          </a:p>
        </p:txBody>
      </p:sp>
      <p:sp>
        <p:nvSpPr>
          <p:cNvPr id="14" name="Providers"/>
          <p:cNvSpPr txBox="1"/>
          <p:nvPr/>
        </p:nvSpPr>
        <p:spPr>
          <a:xfrm>
            <a:off x="3566160" y="4069080"/>
            <a:ext cx="4937760" cy="274320"/>
          </a:xfrm>
          <a:prstGeom prst="rect">
            <a:avLst/>
          </a:prstGeom>
          <a:noFill/>
          <a:ln/>
        </p:spPr>
        <p:txBody>
          <a:bodyPr wrap="square" lIns="0" tIns="0" rIns="0" bIns="0" rtlCol="0" anchor="ctr"/>
          <a:lstStyle/>
          <a:p>
            <a:pPr indent="0" marL="0">
              <a:buNone/>
            </a:pPr>
            <a:r>
              <a:rPr lang="en-US" sz="1000" b="1" dirty="0">
                <a:solidFill>
                  <a:schemeClr val="accent1"/>
                </a:solidFill>
              </a:rPr>
              <a:t>M-Pesa  ·  MTN MoMo  ·  Airtel Money  ·  Orange Money  ·  Flutterwave  ·  Paystack  ·  Wave</a:t>
            </a:r>
            <a:endParaRPr lang="en-US" sz="10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74320"/>
          </a:xfrm>
          <a:prstGeom prst="rect">
            <a:avLst/>
          </a:prstGeom>
          <a:noFill/>
          <a:ln/>
        </p:spPr>
        <p:txBody>
          <a:bodyPr wrap="square" lIns="0" tIns="0" rIns="0" bIns="0" rtlCol="0"/>
          <a:lstStyle/>
          <a:p>
            <a:pPr indent="0" marL="0">
              <a:buNone/>
            </a:pPr>
            <a:r>
              <a:rPr lang="en-US" sz="1100" b="1" spc="200" kern="0" dirty="0">
                <a:solidFill>
                  <a:schemeClr val="accent5"/>
                </a:solidFill>
              </a:rPr>
              <a:t>GISELE · 20 S · THE SOLUTION</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KingaAPI: is it them or you?</a:t>
            </a:r>
            <a:endParaRPr lang="en-US" sz="3200" dirty="0"/>
          </a:p>
        </p:txBody>
      </p:sp>
      <p:sp>
        <p:nvSpPr>
          <p:cNvPr id="4" name="Step 1"/>
          <p:cNvSpPr/>
          <p:nvPr/>
        </p:nvSpPr>
        <p:spPr>
          <a:xfrm>
            <a:off x="457200" y="1417320"/>
            <a:ext cx="384048" cy="384048"/>
          </a:xfrm>
          <a:prstGeom prst="ellipse">
            <a:avLst/>
          </a:prstGeom>
          <a:solidFill>
            <a:schemeClr val="accent1"/>
          </a:solidFill>
          <a:ln w="12700">
            <a:solidFill>
              <a:schemeClr val="accent1"/>
            </a:solidFill>
            <a:prstDash val="solid"/>
          </a:ln>
        </p:spPr>
      </p:sp>
      <p:sp>
        <p:nvSpPr>
          <p:cNvPr id="5" name="Step 1 label"/>
          <p:cNvSpPr txBox="1"/>
          <p:nvPr/>
        </p:nvSpPr>
        <p:spPr>
          <a:xfrm>
            <a:off x="457200" y="141732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Step 1 title"/>
          <p:cNvSpPr txBox="1"/>
          <p:nvPr/>
        </p:nvSpPr>
        <p:spPr>
          <a:xfrm>
            <a:off x="1005840" y="1371600"/>
            <a:ext cx="3017520" cy="365760"/>
          </a:xfrm>
          <a:prstGeom prst="rect">
            <a:avLst/>
          </a:prstGeom>
          <a:noFill/>
          <a:ln/>
        </p:spPr>
        <p:txBody>
          <a:bodyPr wrap="square" lIns="0" tIns="0" rIns="0" bIns="0" rtlCol="0" anchor="ctr"/>
          <a:lstStyle/>
          <a:p>
            <a:pPr indent="0" marL="0">
              <a:buNone/>
            </a:pPr>
            <a:r>
              <a:rPr lang="en-US" sz="1700" b="1" dirty="0">
                <a:solidFill>
                  <a:schemeClr val="tx1"/>
                </a:solidFill>
              </a:rPr>
              <a:t>Checks every minute</a:t>
            </a:r>
            <a:endParaRPr lang="en-US" sz="1700" dirty="0"/>
          </a:p>
        </p:txBody>
      </p:sp>
      <p:sp>
        <p:nvSpPr>
          <p:cNvPr id="7" name="Step 1 text"/>
          <p:cNvSpPr txBox="1"/>
          <p:nvPr/>
        </p:nvSpPr>
        <p:spPr>
          <a:xfrm>
            <a:off x="1005840" y="1737360"/>
            <a:ext cx="3017520" cy="548640"/>
          </a:xfrm>
          <a:prstGeom prst="rect">
            <a:avLst/>
          </a:prstGeom>
          <a:noFill/>
          <a:ln/>
        </p:spPr>
        <p:txBody>
          <a:bodyPr wrap="square" lIns="0" tIns="0" rIns="0" bIns="0" rtlCol="0" anchor="t"/>
          <a:lstStyle/>
          <a:p>
            <a:pPr indent="0" marL="0">
              <a:buNone/>
            </a:pPr>
            <a:r>
              <a:rPr lang="en-US" sz="1300" dirty="0">
                <a:solidFill>
                  <a:schemeClr val="tx2"/>
                </a:solidFill>
              </a:rPr>
              <a:t>Calls each endpoint exactly as your app does: status, speed and JSON fields</a:t>
            </a:r>
            <a:endParaRPr lang="en-US" sz="1300" dirty="0"/>
          </a:p>
        </p:txBody>
      </p:sp>
      <p:sp>
        <p:nvSpPr>
          <p:cNvPr id="8" name="Step 2"/>
          <p:cNvSpPr/>
          <p:nvPr/>
        </p:nvSpPr>
        <p:spPr>
          <a:xfrm>
            <a:off x="457200" y="2468880"/>
            <a:ext cx="384048" cy="384048"/>
          </a:xfrm>
          <a:prstGeom prst="ellipse">
            <a:avLst/>
          </a:prstGeom>
          <a:solidFill>
            <a:schemeClr val="accent2"/>
          </a:solidFill>
          <a:ln w="12700">
            <a:solidFill>
              <a:schemeClr val="accent2"/>
            </a:solidFill>
            <a:prstDash val="solid"/>
          </a:ln>
        </p:spPr>
      </p:sp>
      <p:sp>
        <p:nvSpPr>
          <p:cNvPr id="9" name="Step 2 label"/>
          <p:cNvSpPr txBox="1"/>
          <p:nvPr/>
        </p:nvSpPr>
        <p:spPr>
          <a:xfrm>
            <a:off x="457200" y="2468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Step 2 title"/>
          <p:cNvSpPr txBox="1"/>
          <p:nvPr/>
        </p:nvSpPr>
        <p:spPr>
          <a:xfrm>
            <a:off x="1005840" y="2423160"/>
            <a:ext cx="3017520" cy="365760"/>
          </a:xfrm>
          <a:prstGeom prst="rect">
            <a:avLst/>
          </a:prstGeom>
          <a:noFill/>
          <a:ln/>
        </p:spPr>
        <p:txBody>
          <a:bodyPr wrap="square" lIns="0" tIns="0" rIns="0" bIns="0" rtlCol="0" anchor="ctr"/>
          <a:lstStyle/>
          <a:p>
            <a:pPr indent="0" marL="0">
              <a:buNone/>
            </a:pPr>
            <a:r>
              <a:rPr lang="en-US" sz="1700" b="1" dirty="0">
                <a:solidFill>
                  <a:schemeClr val="tx1"/>
                </a:solidFill>
              </a:rPr>
              <a:t>Diagnoses the failure</a:t>
            </a:r>
            <a:endParaRPr lang="en-US" sz="1700" dirty="0"/>
          </a:p>
        </p:txBody>
      </p:sp>
      <p:sp>
        <p:nvSpPr>
          <p:cNvPr id="11" name="Step 2 text"/>
          <p:cNvSpPr txBox="1"/>
          <p:nvPr/>
        </p:nvSpPr>
        <p:spPr>
          <a:xfrm>
            <a:off x="1005840" y="2788920"/>
            <a:ext cx="3017520" cy="548640"/>
          </a:xfrm>
          <a:prstGeom prst="rect">
            <a:avLst/>
          </a:prstGeom>
          <a:noFill/>
          <a:ln/>
        </p:spPr>
        <p:txBody>
          <a:bodyPr wrap="square" lIns="0" tIns="0" rIns="0" bIns="0" rtlCol="0" anchor="t"/>
          <a:lstStyle/>
          <a:p>
            <a:pPr indent="0" marL="0">
              <a:buNone/>
            </a:pPr>
            <a:r>
              <a:rPr lang="en-US" sz="1300" dirty="0">
                <a:solidFill>
                  <a:schemeClr val="tx2"/>
                </a:solidFill>
              </a:rPr>
              <a:t>Auth, rate limit, provider error, timeout or a silent schema change</a:t>
            </a:r>
            <a:endParaRPr lang="en-US" sz="1300" dirty="0"/>
          </a:p>
        </p:txBody>
      </p:sp>
      <p:sp>
        <p:nvSpPr>
          <p:cNvPr id="12" name="Step 3"/>
          <p:cNvSpPr/>
          <p:nvPr/>
        </p:nvSpPr>
        <p:spPr>
          <a:xfrm>
            <a:off x="457200" y="3520440"/>
            <a:ext cx="384048" cy="384048"/>
          </a:xfrm>
          <a:prstGeom prst="ellipse">
            <a:avLst/>
          </a:prstGeom>
          <a:solidFill>
            <a:schemeClr val="accent3"/>
          </a:solidFill>
          <a:ln w="12700">
            <a:solidFill>
              <a:schemeClr val="accent3"/>
            </a:solidFill>
            <a:prstDash val="solid"/>
          </a:ln>
        </p:spPr>
      </p:sp>
      <p:sp>
        <p:nvSpPr>
          <p:cNvPr id="13" name="Step 3 label"/>
          <p:cNvSpPr txBox="1"/>
          <p:nvPr/>
        </p:nvSpPr>
        <p:spPr>
          <a:xfrm>
            <a:off x="457200" y="35204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Step 3 title"/>
          <p:cNvSpPr txBox="1"/>
          <p:nvPr/>
        </p:nvSpPr>
        <p:spPr>
          <a:xfrm>
            <a:off x="1005840" y="3474720"/>
            <a:ext cx="3017520" cy="365760"/>
          </a:xfrm>
          <a:prstGeom prst="rect">
            <a:avLst/>
          </a:prstGeom>
          <a:noFill/>
          <a:ln/>
        </p:spPr>
        <p:txBody>
          <a:bodyPr wrap="square" lIns="0" tIns="0" rIns="0" bIns="0" rtlCol="0" anchor="ctr"/>
          <a:lstStyle/>
          <a:p>
            <a:pPr indent="0" marL="0">
              <a:buNone/>
            </a:pPr>
            <a:r>
              <a:rPr lang="en-US" sz="1700" b="1" dirty="0">
                <a:solidFill>
                  <a:schemeClr val="tx1"/>
                </a:solidFill>
              </a:rPr>
              <a:t>Tells you whose problem it is</a:t>
            </a:r>
            <a:endParaRPr lang="en-US" sz="1700" dirty="0"/>
          </a:p>
        </p:txBody>
      </p:sp>
      <p:sp>
        <p:nvSpPr>
          <p:cNvPr id="15" name="Step 3 text"/>
          <p:cNvSpPr txBox="1"/>
          <p:nvPr/>
        </p:nvSpPr>
        <p:spPr>
          <a:xfrm>
            <a:off x="1005840" y="3840480"/>
            <a:ext cx="3017520" cy="548640"/>
          </a:xfrm>
          <a:prstGeom prst="rect">
            <a:avLst/>
          </a:prstGeom>
          <a:noFill/>
          <a:ln/>
        </p:spPr>
        <p:txBody>
          <a:bodyPr wrap="square" lIns="0" tIns="0" rIns="0" bIns="0" rtlCol="0" anchor="t"/>
          <a:lstStyle/>
          <a:p>
            <a:pPr indent="0" marL="0">
              <a:buNone/>
            </a:pPr>
            <a:r>
              <a:rPr lang="en-US" sz="1300" dirty="0">
                <a:solidFill>
                  <a:schemeClr val="tx2"/>
                </a:solidFill>
              </a:rPr>
              <a:t>Compares with every other developer on the same provider</a:t>
            </a:r>
            <a:endParaRPr lang="en-US" sz="1300" dirty="0"/>
          </a:p>
        </p:txBody>
      </p:sp>
      <p:sp>
        <p:nvSpPr>
          <p:cNvPr id="16" name="Dashboard screenshot frame"/>
          <p:cNvSpPr/>
          <p:nvPr/>
        </p:nvSpPr>
        <p:spPr>
          <a:xfrm>
            <a:off x="4288536" y="1408176"/>
            <a:ext cx="4453128" cy="2825496"/>
          </a:xfrm>
          <a:prstGeom prst="roundRect">
            <a:avLst>
              <a:gd name="adj" fmla="val 3236"/>
            </a:avLst>
          </a:prstGeom>
          <a:solidFill>
            <a:schemeClr val="bg1"/>
          </a:solidFill>
          <a:ln w="9525">
            <a:solidFill>
              <a:schemeClr val="accent6"/>
            </a:solidFill>
            <a:prstDash val="solid"/>
          </a:ln>
          <a:effectLst>
            <a:outerShdw sx="100000" sy="100000" kx="0" ky="0" algn="bl" rotWithShape="0" blurRad="177800" dist="50800" dir="5400000">
              <a:srgbClr val="0B1020">
                <a:alpha val="18000"/>
              </a:srgbClr>
            </a:outerShdw>
          </a:effectLst>
        </p:spPr>
      </p:sp>
      <p:pic>
        <p:nvPicPr>
          <p:cNvPr id="17" name="Dashboard screenshot" descr="Dashboard screenshot">    </p:cNvPr>
          <p:cNvPicPr>
            <a:picLocks noChangeAspect="1"/>
          </p:cNvPicPr>
          <p:nvPr/>
        </p:nvPicPr>
        <p:blipFill>
          <a:blip r:embed="rId1"/>
          <a:stretch>
            <a:fillRect/>
          </a:stretch>
        </p:blipFill>
        <p:spPr>
          <a:xfrm>
            <a:off x="4343400" y="1463040"/>
            <a:ext cx="4343400" cy="2715768"/>
          </a:xfrm>
          <a:prstGeom prst="rect">
            <a:avLst/>
          </a:prstGeom>
        </p:spPr>
      </p:pic>
      <p:sp>
        <p:nvSpPr>
          <p:cNvPr id="18" name="Dashboard caption"/>
          <p:cNvSpPr txBox="1"/>
          <p:nvPr/>
        </p:nvSpPr>
        <p:spPr>
          <a:xfrm>
            <a:off x="4343400" y="4297680"/>
            <a:ext cx="4343400" cy="274320"/>
          </a:xfrm>
          <a:prstGeom prst="rect">
            <a:avLst/>
          </a:prstGeom>
          <a:noFill/>
          <a:ln/>
        </p:spPr>
        <p:txBody>
          <a:bodyPr wrap="square" lIns="0" tIns="0" rIns="0" bIns="0" rtlCol="0" anchor="ctr"/>
          <a:lstStyle/>
          <a:p>
            <a:pPr indent="0" marL="0">
              <a:buNone/>
            </a:pPr>
            <a:r>
              <a:rPr lang="en-US" sz="1100" i="1" dirty="0">
                <a:solidFill>
                  <a:schemeClr val="tx2"/>
                </a:solidFill>
              </a:rPr>
              <a:t>The dashboard: every payment API a developer depends on</a:t>
            </a:r>
            <a:endParaRPr lang="en-US" sz="11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74320"/>
          </a:xfrm>
          <a:prstGeom prst="rect">
            <a:avLst/>
          </a:prstGeom>
          <a:noFill/>
          <a:ln/>
        </p:spPr>
        <p:txBody>
          <a:bodyPr wrap="square" lIns="0" tIns="0" rIns="0" bIns="0" rtlCol="0"/>
          <a:lstStyle/>
          <a:p>
            <a:pPr indent="0" marL="0">
              <a:buNone/>
            </a:pPr>
            <a:r>
              <a:rPr lang="en-US" sz="1100" b="1" spc="200" kern="0" dirty="0">
                <a:solidFill>
                  <a:schemeClr val="accent5"/>
                </a:solidFill>
              </a:rPr>
              <a:t>DEBORAH · 40 S · HOW IT WORKS</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How a check becomes a diagnosis</a:t>
            </a:r>
            <a:endParaRPr lang="en-US" sz="3200" dirty="0"/>
          </a:p>
        </p:txBody>
      </p:sp>
      <p:sp>
        <p:nvSpPr>
          <p:cNvPr id="4" name="Flow Check"/>
          <p:cNvSpPr/>
          <p:nvPr/>
        </p:nvSpPr>
        <p:spPr>
          <a:xfrm>
            <a:off x="457200" y="1371600"/>
            <a:ext cx="182880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5" name="Flow Check number"/>
          <p:cNvSpPr/>
          <p:nvPr/>
        </p:nvSpPr>
        <p:spPr>
          <a:xfrm>
            <a:off x="640080" y="1554480"/>
            <a:ext cx="384048" cy="384048"/>
          </a:xfrm>
          <a:prstGeom prst="ellipse">
            <a:avLst/>
          </a:prstGeom>
          <a:solidFill>
            <a:schemeClr val="accent1"/>
          </a:solidFill>
          <a:ln w="12700">
            <a:solidFill>
              <a:schemeClr val="accent1"/>
            </a:solidFill>
            <a:prstDash val="solid"/>
          </a:ln>
        </p:spPr>
      </p:sp>
      <p:sp>
        <p:nvSpPr>
          <p:cNvPr id="6" name="Flow Check number label"/>
          <p:cNvSpPr txBox="1"/>
          <p:nvPr/>
        </p:nvSpPr>
        <p:spPr>
          <a:xfrm>
            <a:off x="640080" y="1554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Flow Check title"/>
          <p:cNvSpPr txBox="1"/>
          <p:nvPr/>
        </p:nvSpPr>
        <p:spPr>
          <a:xfrm>
            <a:off x="640080" y="2029968"/>
            <a:ext cx="1463040" cy="365760"/>
          </a:xfrm>
          <a:prstGeom prst="rect">
            <a:avLst/>
          </a:prstGeom>
          <a:noFill/>
          <a:ln/>
        </p:spPr>
        <p:txBody>
          <a:bodyPr wrap="square" lIns="0" tIns="0" rIns="0" bIns="0" rtlCol="0" anchor="ctr"/>
          <a:lstStyle/>
          <a:p>
            <a:pPr indent="0" marL="0">
              <a:buNone/>
            </a:pPr>
            <a:r>
              <a:rPr lang="en-US" sz="1800" b="1" dirty="0">
                <a:solidFill>
                  <a:schemeClr val="tx1"/>
                </a:solidFill>
              </a:rPr>
              <a:t>Check</a:t>
            </a:r>
            <a:endParaRPr lang="en-US" sz="1800" dirty="0"/>
          </a:p>
        </p:txBody>
      </p:sp>
      <p:sp>
        <p:nvSpPr>
          <p:cNvPr id="8" name="Flow Check text"/>
          <p:cNvSpPr txBox="1"/>
          <p:nvPr/>
        </p:nvSpPr>
        <p:spPr>
          <a:xfrm>
            <a:off x="640080" y="2395728"/>
            <a:ext cx="1463040" cy="731520"/>
          </a:xfrm>
          <a:prstGeom prst="rect">
            <a:avLst/>
          </a:prstGeom>
          <a:noFill/>
          <a:ln/>
        </p:spPr>
        <p:txBody>
          <a:bodyPr wrap="square" lIns="0" tIns="0" rIns="0" bIns="0" rtlCol="0" anchor="t"/>
          <a:lstStyle/>
          <a:p>
            <a:pPr indent="0" marL="0">
              <a:buNone/>
            </a:pPr>
            <a:r>
              <a:rPr lang="en-US" sz="1200" dirty="0">
                <a:solidFill>
                  <a:schemeClr val="tx2"/>
                </a:solidFill>
              </a:rPr>
              <a:t>Every minute, exactly the way the app calls it</a:t>
            </a:r>
            <a:endParaRPr lang="en-US" sz="1200" dirty="0"/>
          </a:p>
        </p:txBody>
      </p:sp>
      <p:sp>
        <p:nvSpPr>
          <p:cNvPr id="9" name="Arrow 1"/>
          <p:cNvSpPr/>
          <p:nvPr/>
        </p:nvSpPr>
        <p:spPr>
          <a:xfrm>
            <a:off x="2359152" y="2157984"/>
            <a:ext cx="155448" cy="256032"/>
          </a:xfrm>
          <a:prstGeom prst="chevron">
            <a:avLst/>
          </a:prstGeom>
          <a:solidFill>
            <a:schemeClr val="tx2"/>
          </a:solidFill>
          <a:ln w="12700">
            <a:solidFill>
              <a:schemeClr val="tx2"/>
            </a:solidFill>
            <a:prstDash val="solid"/>
          </a:ln>
        </p:spPr>
      </p:sp>
      <p:sp>
        <p:nvSpPr>
          <p:cNvPr id="10" name="Flow Classify"/>
          <p:cNvSpPr/>
          <p:nvPr/>
        </p:nvSpPr>
        <p:spPr>
          <a:xfrm>
            <a:off x="2587752" y="1371600"/>
            <a:ext cx="182880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11" name="Flow Classify number"/>
          <p:cNvSpPr/>
          <p:nvPr/>
        </p:nvSpPr>
        <p:spPr>
          <a:xfrm>
            <a:off x="2770632" y="1554480"/>
            <a:ext cx="384048" cy="384048"/>
          </a:xfrm>
          <a:prstGeom prst="ellipse">
            <a:avLst/>
          </a:prstGeom>
          <a:solidFill>
            <a:schemeClr val="accent2"/>
          </a:solidFill>
          <a:ln w="12700">
            <a:solidFill>
              <a:schemeClr val="accent2"/>
            </a:solidFill>
            <a:prstDash val="solid"/>
          </a:ln>
        </p:spPr>
      </p:sp>
      <p:sp>
        <p:nvSpPr>
          <p:cNvPr id="12" name="Flow Classify number label"/>
          <p:cNvSpPr txBox="1"/>
          <p:nvPr/>
        </p:nvSpPr>
        <p:spPr>
          <a:xfrm>
            <a:off x="2770632" y="1554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Flow Classify title"/>
          <p:cNvSpPr txBox="1"/>
          <p:nvPr/>
        </p:nvSpPr>
        <p:spPr>
          <a:xfrm>
            <a:off x="2770632" y="2029968"/>
            <a:ext cx="1463040" cy="365760"/>
          </a:xfrm>
          <a:prstGeom prst="rect">
            <a:avLst/>
          </a:prstGeom>
          <a:noFill/>
          <a:ln/>
        </p:spPr>
        <p:txBody>
          <a:bodyPr wrap="square" lIns="0" tIns="0" rIns="0" bIns="0" rtlCol="0" anchor="ctr"/>
          <a:lstStyle/>
          <a:p>
            <a:pPr indent="0" marL="0">
              <a:buNone/>
            </a:pPr>
            <a:r>
              <a:rPr lang="en-US" sz="1800" b="1" dirty="0">
                <a:solidFill>
                  <a:schemeClr val="tx1"/>
                </a:solidFill>
              </a:rPr>
              <a:t>Classify</a:t>
            </a:r>
            <a:endParaRPr lang="en-US" sz="1800" dirty="0"/>
          </a:p>
        </p:txBody>
      </p:sp>
      <p:sp>
        <p:nvSpPr>
          <p:cNvPr id="14" name="Flow Classify text"/>
          <p:cNvSpPr txBox="1"/>
          <p:nvPr/>
        </p:nvSpPr>
        <p:spPr>
          <a:xfrm>
            <a:off x="2770632" y="2395728"/>
            <a:ext cx="1463040" cy="731520"/>
          </a:xfrm>
          <a:prstGeom prst="rect">
            <a:avLst/>
          </a:prstGeom>
          <a:noFill/>
          <a:ln/>
        </p:spPr>
        <p:txBody>
          <a:bodyPr wrap="square" lIns="0" tIns="0" rIns="0" bIns="0" rtlCol="0" anchor="t"/>
          <a:lstStyle/>
          <a:p>
            <a:pPr indent="0" marL="0">
              <a:buNone/>
            </a:pPr>
            <a:r>
              <a:rPr lang="en-US" sz="1200" dirty="0">
                <a:solidFill>
                  <a:schemeClr val="tx2"/>
                </a:solidFill>
              </a:rPr>
              <a:t>Status code, response time and the JSON fields the code needs</a:t>
            </a:r>
            <a:endParaRPr lang="en-US" sz="1200" dirty="0"/>
          </a:p>
        </p:txBody>
      </p:sp>
      <p:sp>
        <p:nvSpPr>
          <p:cNvPr id="15" name="Arrow 2"/>
          <p:cNvSpPr/>
          <p:nvPr/>
        </p:nvSpPr>
        <p:spPr>
          <a:xfrm>
            <a:off x="4489704" y="2157984"/>
            <a:ext cx="155448" cy="256032"/>
          </a:xfrm>
          <a:prstGeom prst="chevron">
            <a:avLst/>
          </a:prstGeom>
          <a:solidFill>
            <a:schemeClr val="tx2"/>
          </a:solidFill>
          <a:ln w="12700">
            <a:solidFill>
              <a:schemeClr val="tx2"/>
            </a:solidFill>
            <a:prstDash val="solid"/>
          </a:ln>
        </p:spPr>
      </p:sp>
      <p:sp>
        <p:nvSpPr>
          <p:cNvPr id="16" name="Flow Compare"/>
          <p:cNvSpPr/>
          <p:nvPr/>
        </p:nvSpPr>
        <p:spPr>
          <a:xfrm>
            <a:off x="4718304" y="1371600"/>
            <a:ext cx="182880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17" name="Flow Compare number"/>
          <p:cNvSpPr/>
          <p:nvPr/>
        </p:nvSpPr>
        <p:spPr>
          <a:xfrm>
            <a:off x="4901184" y="1554480"/>
            <a:ext cx="384048" cy="384048"/>
          </a:xfrm>
          <a:prstGeom prst="ellipse">
            <a:avLst/>
          </a:prstGeom>
          <a:solidFill>
            <a:schemeClr val="accent4"/>
          </a:solidFill>
          <a:ln w="12700">
            <a:solidFill>
              <a:schemeClr val="accent4"/>
            </a:solidFill>
            <a:prstDash val="solid"/>
          </a:ln>
        </p:spPr>
      </p:sp>
      <p:sp>
        <p:nvSpPr>
          <p:cNvPr id="18" name="Flow Compare number label"/>
          <p:cNvSpPr txBox="1"/>
          <p:nvPr/>
        </p:nvSpPr>
        <p:spPr>
          <a:xfrm>
            <a:off x="4901184" y="1554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9" name="Flow Compare title"/>
          <p:cNvSpPr txBox="1"/>
          <p:nvPr/>
        </p:nvSpPr>
        <p:spPr>
          <a:xfrm>
            <a:off x="4901184" y="2029968"/>
            <a:ext cx="1463040" cy="365760"/>
          </a:xfrm>
          <a:prstGeom prst="rect">
            <a:avLst/>
          </a:prstGeom>
          <a:noFill/>
          <a:ln/>
        </p:spPr>
        <p:txBody>
          <a:bodyPr wrap="square" lIns="0" tIns="0" rIns="0" bIns="0" rtlCol="0" anchor="ctr"/>
          <a:lstStyle/>
          <a:p>
            <a:pPr indent="0" marL="0">
              <a:buNone/>
            </a:pPr>
            <a:r>
              <a:rPr lang="en-US" sz="1800" b="1" dirty="0">
                <a:solidFill>
                  <a:schemeClr val="tx1"/>
                </a:solidFill>
              </a:rPr>
              <a:t>Compare</a:t>
            </a:r>
            <a:endParaRPr lang="en-US" sz="1800" dirty="0"/>
          </a:p>
        </p:txBody>
      </p:sp>
      <p:sp>
        <p:nvSpPr>
          <p:cNvPr id="20" name="Flow Compare text"/>
          <p:cNvSpPr txBox="1"/>
          <p:nvPr/>
        </p:nvSpPr>
        <p:spPr>
          <a:xfrm>
            <a:off x="4901184" y="2395728"/>
            <a:ext cx="1463040" cy="731520"/>
          </a:xfrm>
          <a:prstGeom prst="rect">
            <a:avLst/>
          </a:prstGeom>
          <a:noFill/>
          <a:ln/>
        </p:spPr>
        <p:txBody>
          <a:bodyPr wrap="square" lIns="0" tIns="0" rIns="0" bIns="0" rtlCol="0" anchor="t"/>
          <a:lstStyle/>
          <a:p>
            <a:pPr indent="0" marL="0">
              <a:buNone/>
            </a:pPr>
            <a:r>
              <a:rPr lang="en-US" sz="1200" dirty="0">
                <a:solidFill>
                  <a:schemeClr val="tx2"/>
                </a:solidFill>
              </a:rPr>
              <a:t>Are other developers on this provider failing too?</a:t>
            </a:r>
            <a:endParaRPr lang="en-US" sz="1200" dirty="0"/>
          </a:p>
        </p:txBody>
      </p:sp>
      <p:sp>
        <p:nvSpPr>
          <p:cNvPr id="21" name="Arrow 3"/>
          <p:cNvSpPr/>
          <p:nvPr/>
        </p:nvSpPr>
        <p:spPr>
          <a:xfrm>
            <a:off x="6620256" y="2157984"/>
            <a:ext cx="155448" cy="256032"/>
          </a:xfrm>
          <a:prstGeom prst="chevron">
            <a:avLst/>
          </a:prstGeom>
          <a:solidFill>
            <a:schemeClr val="tx2"/>
          </a:solidFill>
          <a:ln w="12700">
            <a:solidFill>
              <a:schemeClr val="tx2"/>
            </a:solidFill>
            <a:prstDash val="solid"/>
          </a:ln>
        </p:spPr>
      </p:sp>
      <p:sp>
        <p:nvSpPr>
          <p:cNvPr id="22" name="Flow Report"/>
          <p:cNvSpPr/>
          <p:nvPr/>
        </p:nvSpPr>
        <p:spPr>
          <a:xfrm>
            <a:off x="6848856" y="1371600"/>
            <a:ext cx="1828800" cy="1828800"/>
          </a:xfrm>
          <a:prstGeom prst="roundRect">
            <a:avLst>
              <a:gd name="adj" fmla="val 6000"/>
            </a:avLst>
          </a:prstGeom>
          <a:solidFill>
            <a:schemeClr val="bg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23" name="Flow Report number"/>
          <p:cNvSpPr/>
          <p:nvPr/>
        </p:nvSpPr>
        <p:spPr>
          <a:xfrm>
            <a:off x="7031736" y="1554480"/>
            <a:ext cx="384048" cy="384048"/>
          </a:xfrm>
          <a:prstGeom prst="ellipse">
            <a:avLst/>
          </a:prstGeom>
          <a:solidFill>
            <a:schemeClr val="accent3"/>
          </a:solidFill>
          <a:ln w="12700">
            <a:solidFill>
              <a:schemeClr val="accent3"/>
            </a:solidFill>
            <a:prstDash val="solid"/>
          </a:ln>
        </p:spPr>
      </p:sp>
      <p:sp>
        <p:nvSpPr>
          <p:cNvPr id="24" name="Flow Report number label"/>
          <p:cNvSpPr txBox="1"/>
          <p:nvPr/>
        </p:nvSpPr>
        <p:spPr>
          <a:xfrm>
            <a:off x="7031736" y="15544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5" name="Flow Report title"/>
          <p:cNvSpPr txBox="1"/>
          <p:nvPr/>
        </p:nvSpPr>
        <p:spPr>
          <a:xfrm>
            <a:off x="7031736" y="2029968"/>
            <a:ext cx="1463040" cy="365760"/>
          </a:xfrm>
          <a:prstGeom prst="rect">
            <a:avLst/>
          </a:prstGeom>
          <a:noFill/>
          <a:ln/>
        </p:spPr>
        <p:txBody>
          <a:bodyPr wrap="square" lIns="0" tIns="0" rIns="0" bIns="0" rtlCol="0" anchor="ctr"/>
          <a:lstStyle/>
          <a:p>
            <a:pPr indent="0" marL="0">
              <a:buNone/>
            </a:pPr>
            <a:r>
              <a:rPr lang="en-US" sz="1800" b="1" dirty="0">
                <a:solidFill>
                  <a:schemeClr val="tx1"/>
                </a:solidFill>
              </a:rPr>
              <a:t>Report</a:t>
            </a:r>
            <a:endParaRPr lang="en-US" sz="1800" dirty="0"/>
          </a:p>
        </p:txBody>
      </p:sp>
      <p:sp>
        <p:nvSpPr>
          <p:cNvPr id="26" name="Flow Report text"/>
          <p:cNvSpPr txBox="1"/>
          <p:nvPr/>
        </p:nvSpPr>
        <p:spPr>
          <a:xfrm>
            <a:off x="7031736" y="2395728"/>
            <a:ext cx="1463040" cy="731520"/>
          </a:xfrm>
          <a:prstGeom prst="rect">
            <a:avLst/>
          </a:prstGeom>
          <a:noFill/>
          <a:ln/>
        </p:spPr>
        <p:txBody>
          <a:bodyPr wrap="square" lIns="0" tIns="0" rIns="0" bIns="0" rtlCol="0" anchor="t"/>
          <a:lstStyle/>
          <a:p>
            <a:pPr indent="0" marL="0">
              <a:buNone/>
            </a:pPr>
            <a:r>
              <a:rPr lang="en-US" sz="1200" dirty="0">
                <a:solidFill>
                  <a:schemeClr val="tx2"/>
                </a:solidFill>
              </a:rPr>
              <a:t>Expected vs. what came back, and what to check next</a:t>
            </a:r>
            <a:endParaRPr lang="en-US" sz="1200" dirty="0"/>
          </a:p>
        </p:txBody>
      </p:sp>
      <p:sp>
        <p:nvSpPr>
          <p:cNvPr id="27" name="Failure types heading"/>
          <p:cNvSpPr txBox="1"/>
          <p:nvPr/>
        </p:nvSpPr>
        <p:spPr>
          <a:xfrm>
            <a:off x="457200" y="3474720"/>
            <a:ext cx="2743200" cy="320040"/>
          </a:xfrm>
          <a:prstGeom prst="rect">
            <a:avLst/>
          </a:prstGeom>
          <a:noFill/>
          <a:ln/>
        </p:spPr>
        <p:txBody>
          <a:bodyPr wrap="square" lIns="0" tIns="0" rIns="0" bIns="0" rtlCol="0" anchor="ctr"/>
          <a:lstStyle/>
          <a:p>
            <a:pPr indent="0" marL="0">
              <a:buNone/>
            </a:pPr>
            <a:r>
              <a:rPr lang="en-US" sz="1400" b="1" dirty="0">
                <a:solidFill>
                  <a:schemeClr val="tx1"/>
                </a:solidFill>
              </a:rPr>
              <a:t>8 failure types</a:t>
            </a:r>
            <a:endParaRPr lang="en-US" sz="1400" dirty="0"/>
          </a:p>
        </p:txBody>
      </p:sp>
      <p:sp>
        <p:nvSpPr>
          <p:cNvPr id="28" name="Chip Auth 401/403"/>
          <p:cNvSpPr/>
          <p:nvPr/>
        </p:nvSpPr>
        <p:spPr>
          <a:xfrm>
            <a:off x="457200" y="3858768"/>
            <a:ext cx="1920240" cy="329184"/>
          </a:xfrm>
          <a:prstGeom prst="roundRect">
            <a:avLst>
              <a:gd name="adj" fmla="val 50000"/>
            </a:avLst>
          </a:prstGeom>
          <a:solidFill>
            <a:schemeClr val="bg1"/>
          </a:solidFill>
          <a:ln w="12700">
            <a:solidFill>
              <a:schemeClr val="accent3"/>
            </a:solidFill>
            <a:prstDash val="solid"/>
          </a:ln>
        </p:spPr>
      </p:sp>
      <p:sp>
        <p:nvSpPr>
          <p:cNvPr id="29" name="Chip Auth 401/403 text"/>
          <p:cNvSpPr txBox="1"/>
          <p:nvPr/>
        </p:nvSpPr>
        <p:spPr>
          <a:xfrm>
            <a:off x="457200" y="3858768"/>
            <a:ext cx="1920240" cy="329184"/>
          </a:xfrm>
          <a:prstGeom prst="rect">
            <a:avLst/>
          </a:prstGeom>
          <a:noFill/>
          <a:ln/>
        </p:spPr>
        <p:txBody>
          <a:bodyPr wrap="square" lIns="0" tIns="0" rIns="0" bIns="0" rtlCol="0" anchor="ctr"/>
          <a:lstStyle/>
          <a:p>
            <a:pPr algn="ctr" indent="0" marL="0">
              <a:buNone/>
            </a:pPr>
            <a:r>
              <a:rPr lang="en-US" sz="1200" b="1" dirty="0">
                <a:solidFill>
                  <a:schemeClr val="accent3"/>
                </a:solidFill>
              </a:rPr>
              <a:t>Auth 401/403</a:t>
            </a:r>
            <a:endParaRPr lang="en-US" sz="1200" dirty="0"/>
          </a:p>
        </p:txBody>
      </p:sp>
      <p:sp>
        <p:nvSpPr>
          <p:cNvPr id="30" name="Chip Rate limit 429"/>
          <p:cNvSpPr/>
          <p:nvPr/>
        </p:nvSpPr>
        <p:spPr>
          <a:xfrm>
            <a:off x="2542032" y="3858768"/>
            <a:ext cx="1920240" cy="329184"/>
          </a:xfrm>
          <a:prstGeom prst="roundRect">
            <a:avLst>
              <a:gd name="adj" fmla="val 50000"/>
            </a:avLst>
          </a:prstGeom>
          <a:solidFill>
            <a:schemeClr val="bg1"/>
          </a:solidFill>
          <a:ln w="12700">
            <a:solidFill>
              <a:schemeClr val="accent3"/>
            </a:solidFill>
            <a:prstDash val="solid"/>
          </a:ln>
        </p:spPr>
      </p:sp>
      <p:sp>
        <p:nvSpPr>
          <p:cNvPr id="31" name="Chip Rate limit 429 text"/>
          <p:cNvSpPr txBox="1"/>
          <p:nvPr/>
        </p:nvSpPr>
        <p:spPr>
          <a:xfrm>
            <a:off x="2542032" y="3858768"/>
            <a:ext cx="1920240" cy="329184"/>
          </a:xfrm>
          <a:prstGeom prst="rect">
            <a:avLst/>
          </a:prstGeom>
          <a:noFill/>
          <a:ln/>
        </p:spPr>
        <p:txBody>
          <a:bodyPr wrap="square" lIns="0" tIns="0" rIns="0" bIns="0" rtlCol="0" anchor="ctr"/>
          <a:lstStyle/>
          <a:p>
            <a:pPr algn="ctr" indent="0" marL="0">
              <a:buNone/>
            </a:pPr>
            <a:r>
              <a:rPr lang="en-US" sz="1200" b="1" dirty="0">
                <a:solidFill>
                  <a:schemeClr val="accent3"/>
                </a:solidFill>
              </a:rPr>
              <a:t>Rate limit 429</a:t>
            </a:r>
            <a:endParaRPr lang="en-US" sz="1200" dirty="0"/>
          </a:p>
        </p:txBody>
      </p:sp>
      <p:sp>
        <p:nvSpPr>
          <p:cNvPr id="32" name="Chip Server error 5xx"/>
          <p:cNvSpPr/>
          <p:nvPr/>
        </p:nvSpPr>
        <p:spPr>
          <a:xfrm>
            <a:off x="4626864" y="3858768"/>
            <a:ext cx="1920240" cy="329184"/>
          </a:xfrm>
          <a:prstGeom prst="roundRect">
            <a:avLst>
              <a:gd name="adj" fmla="val 50000"/>
            </a:avLst>
          </a:prstGeom>
          <a:solidFill>
            <a:schemeClr val="bg1"/>
          </a:solidFill>
          <a:ln w="12700">
            <a:solidFill>
              <a:schemeClr val="accent3"/>
            </a:solidFill>
            <a:prstDash val="solid"/>
          </a:ln>
        </p:spPr>
      </p:sp>
      <p:sp>
        <p:nvSpPr>
          <p:cNvPr id="33" name="Chip Server error 5xx text"/>
          <p:cNvSpPr txBox="1"/>
          <p:nvPr/>
        </p:nvSpPr>
        <p:spPr>
          <a:xfrm>
            <a:off x="4626864" y="3858768"/>
            <a:ext cx="1920240" cy="329184"/>
          </a:xfrm>
          <a:prstGeom prst="rect">
            <a:avLst/>
          </a:prstGeom>
          <a:noFill/>
          <a:ln/>
        </p:spPr>
        <p:txBody>
          <a:bodyPr wrap="square" lIns="0" tIns="0" rIns="0" bIns="0" rtlCol="0" anchor="ctr"/>
          <a:lstStyle/>
          <a:p>
            <a:pPr algn="ctr" indent="0" marL="0">
              <a:buNone/>
            </a:pPr>
            <a:r>
              <a:rPr lang="en-US" sz="1200" b="1" dirty="0">
                <a:solidFill>
                  <a:schemeClr val="accent3"/>
                </a:solidFill>
              </a:rPr>
              <a:t>Server error 5xx</a:t>
            </a:r>
            <a:endParaRPr lang="en-US" sz="1200" dirty="0"/>
          </a:p>
        </p:txBody>
      </p:sp>
      <p:sp>
        <p:nvSpPr>
          <p:cNvPr id="34" name="Chip Timeout"/>
          <p:cNvSpPr/>
          <p:nvPr/>
        </p:nvSpPr>
        <p:spPr>
          <a:xfrm>
            <a:off x="6711696" y="3858768"/>
            <a:ext cx="1920240" cy="329184"/>
          </a:xfrm>
          <a:prstGeom prst="roundRect">
            <a:avLst>
              <a:gd name="adj" fmla="val 50000"/>
            </a:avLst>
          </a:prstGeom>
          <a:solidFill>
            <a:schemeClr val="bg1"/>
          </a:solidFill>
          <a:ln w="12700">
            <a:solidFill>
              <a:schemeClr val="accent3"/>
            </a:solidFill>
            <a:prstDash val="solid"/>
          </a:ln>
        </p:spPr>
      </p:sp>
      <p:sp>
        <p:nvSpPr>
          <p:cNvPr id="35" name="Chip Timeout text"/>
          <p:cNvSpPr txBox="1"/>
          <p:nvPr/>
        </p:nvSpPr>
        <p:spPr>
          <a:xfrm>
            <a:off x="6711696" y="3858768"/>
            <a:ext cx="1920240" cy="329184"/>
          </a:xfrm>
          <a:prstGeom prst="rect">
            <a:avLst/>
          </a:prstGeom>
          <a:noFill/>
          <a:ln/>
        </p:spPr>
        <p:txBody>
          <a:bodyPr wrap="square" lIns="0" tIns="0" rIns="0" bIns="0" rtlCol="0" anchor="ctr"/>
          <a:lstStyle/>
          <a:p>
            <a:pPr algn="ctr" indent="0" marL="0">
              <a:buNone/>
            </a:pPr>
            <a:r>
              <a:rPr lang="en-US" sz="1200" b="1" dirty="0">
                <a:solidFill>
                  <a:schemeClr val="accent3"/>
                </a:solidFill>
              </a:rPr>
              <a:t>Timeout</a:t>
            </a:r>
            <a:endParaRPr lang="en-US" sz="1200" dirty="0"/>
          </a:p>
        </p:txBody>
      </p:sp>
      <p:sp>
        <p:nvSpPr>
          <p:cNvPr id="36" name="Chip Connection"/>
          <p:cNvSpPr/>
          <p:nvPr/>
        </p:nvSpPr>
        <p:spPr>
          <a:xfrm>
            <a:off x="457200" y="4270248"/>
            <a:ext cx="1920240" cy="329184"/>
          </a:xfrm>
          <a:prstGeom prst="roundRect">
            <a:avLst>
              <a:gd name="adj" fmla="val 50000"/>
            </a:avLst>
          </a:prstGeom>
          <a:solidFill>
            <a:schemeClr val="bg1"/>
          </a:solidFill>
          <a:ln w="12700">
            <a:solidFill>
              <a:schemeClr val="accent3"/>
            </a:solidFill>
            <a:prstDash val="solid"/>
          </a:ln>
        </p:spPr>
      </p:sp>
      <p:sp>
        <p:nvSpPr>
          <p:cNvPr id="37" name="Chip Connection text"/>
          <p:cNvSpPr txBox="1"/>
          <p:nvPr/>
        </p:nvSpPr>
        <p:spPr>
          <a:xfrm>
            <a:off x="457200" y="4270248"/>
            <a:ext cx="1920240" cy="329184"/>
          </a:xfrm>
          <a:prstGeom prst="rect">
            <a:avLst/>
          </a:prstGeom>
          <a:noFill/>
          <a:ln/>
        </p:spPr>
        <p:txBody>
          <a:bodyPr wrap="square" lIns="0" tIns="0" rIns="0" bIns="0" rtlCol="0" anchor="ctr"/>
          <a:lstStyle/>
          <a:p>
            <a:pPr algn="ctr" indent="0" marL="0">
              <a:buNone/>
            </a:pPr>
            <a:r>
              <a:rPr lang="en-US" sz="1200" b="1" dirty="0">
                <a:solidFill>
                  <a:schemeClr val="accent3"/>
                </a:solidFill>
              </a:rPr>
              <a:t>Connection</a:t>
            </a:r>
            <a:endParaRPr lang="en-US" sz="1200" dirty="0"/>
          </a:p>
        </p:txBody>
      </p:sp>
      <p:sp>
        <p:nvSpPr>
          <p:cNvPr id="38" name="Chip Bad format"/>
          <p:cNvSpPr/>
          <p:nvPr/>
        </p:nvSpPr>
        <p:spPr>
          <a:xfrm>
            <a:off x="2542032" y="4270248"/>
            <a:ext cx="1920240" cy="329184"/>
          </a:xfrm>
          <a:prstGeom prst="roundRect">
            <a:avLst>
              <a:gd name="adj" fmla="val 50000"/>
            </a:avLst>
          </a:prstGeom>
          <a:solidFill>
            <a:schemeClr val="bg1"/>
          </a:solidFill>
          <a:ln w="12700">
            <a:solidFill>
              <a:schemeClr val="accent4"/>
            </a:solidFill>
            <a:prstDash val="solid"/>
          </a:ln>
        </p:spPr>
      </p:sp>
      <p:sp>
        <p:nvSpPr>
          <p:cNvPr id="39" name="Chip Bad format text"/>
          <p:cNvSpPr txBox="1"/>
          <p:nvPr/>
        </p:nvSpPr>
        <p:spPr>
          <a:xfrm>
            <a:off x="2542032" y="4270248"/>
            <a:ext cx="1920240" cy="329184"/>
          </a:xfrm>
          <a:prstGeom prst="rect">
            <a:avLst/>
          </a:prstGeom>
          <a:noFill/>
          <a:ln/>
        </p:spPr>
        <p:txBody>
          <a:bodyPr wrap="square" lIns="0" tIns="0" rIns="0" bIns="0" rtlCol="0" anchor="ctr"/>
          <a:lstStyle/>
          <a:p>
            <a:pPr algn="ctr" indent="0" marL="0">
              <a:buNone/>
            </a:pPr>
            <a:r>
              <a:rPr lang="en-US" sz="1200" b="1" dirty="0">
                <a:solidFill>
                  <a:schemeClr val="accent4"/>
                </a:solidFill>
              </a:rPr>
              <a:t>Bad format</a:t>
            </a:r>
            <a:endParaRPr lang="en-US" sz="1200" dirty="0"/>
          </a:p>
        </p:txBody>
      </p:sp>
      <p:sp>
        <p:nvSpPr>
          <p:cNvPr id="40" name="Chip Unexpected status"/>
          <p:cNvSpPr/>
          <p:nvPr/>
        </p:nvSpPr>
        <p:spPr>
          <a:xfrm>
            <a:off x="4626864" y="4270248"/>
            <a:ext cx="1920240" cy="329184"/>
          </a:xfrm>
          <a:prstGeom prst="roundRect">
            <a:avLst>
              <a:gd name="adj" fmla="val 50000"/>
            </a:avLst>
          </a:prstGeom>
          <a:solidFill>
            <a:schemeClr val="bg1"/>
          </a:solidFill>
          <a:ln w="12700">
            <a:solidFill>
              <a:schemeClr val="accent3"/>
            </a:solidFill>
            <a:prstDash val="solid"/>
          </a:ln>
        </p:spPr>
      </p:sp>
      <p:sp>
        <p:nvSpPr>
          <p:cNvPr id="41" name="Chip Unexpected status text"/>
          <p:cNvSpPr txBox="1"/>
          <p:nvPr/>
        </p:nvSpPr>
        <p:spPr>
          <a:xfrm>
            <a:off x="4626864" y="4270248"/>
            <a:ext cx="1920240" cy="329184"/>
          </a:xfrm>
          <a:prstGeom prst="rect">
            <a:avLst/>
          </a:prstGeom>
          <a:noFill/>
          <a:ln/>
        </p:spPr>
        <p:txBody>
          <a:bodyPr wrap="square" lIns="0" tIns="0" rIns="0" bIns="0" rtlCol="0" anchor="ctr"/>
          <a:lstStyle/>
          <a:p>
            <a:pPr algn="ctr" indent="0" marL="0">
              <a:buNone/>
            </a:pPr>
            <a:r>
              <a:rPr lang="en-US" sz="1200" b="1" dirty="0">
                <a:solidFill>
                  <a:schemeClr val="accent3"/>
                </a:solidFill>
              </a:rPr>
              <a:t>Unexpected status</a:t>
            </a:r>
            <a:endParaRPr lang="en-US" sz="1200" dirty="0"/>
          </a:p>
        </p:txBody>
      </p:sp>
      <p:sp>
        <p:nvSpPr>
          <p:cNvPr id="42" name="Chip Slow"/>
          <p:cNvSpPr/>
          <p:nvPr/>
        </p:nvSpPr>
        <p:spPr>
          <a:xfrm>
            <a:off x="6711696" y="4270248"/>
            <a:ext cx="1920240" cy="329184"/>
          </a:xfrm>
          <a:prstGeom prst="roundRect">
            <a:avLst>
              <a:gd name="adj" fmla="val 50000"/>
            </a:avLst>
          </a:prstGeom>
          <a:solidFill>
            <a:schemeClr val="bg1"/>
          </a:solidFill>
          <a:ln w="12700">
            <a:solidFill>
              <a:schemeClr val="accent2"/>
            </a:solidFill>
            <a:prstDash val="solid"/>
          </a:ln>
        </p:spPr>
      </p:sp>
      <p:sp>
        <p:nvSpPr>
          <p:cNvPr id="43" name="Chip Slow text"/>
          <p:cNvSpPr txBox="1"/>
          <p:nvPr/>
        </p:nvSpPr>
        <p:spPr>
          <a:xfrm>
            <a:off x="6711696" y="4270248"/>
            <a:ext cx="1920240" cy="329184"/>
          </a:xfrm>
          <a:prstGeom prst="rect">
            <a:avLst/>
          </a:prstGeom>
          <a:noFill/>
          <a:ln/>
        </p:spPr>
        <p:txBody>
          <a:bodyPr wrap="square" lIns="0" tIns="0" rIns="0" bIns="0" rtlCol="0" anchor="ctr"/>
          <a:lstStyle/>
          <a:p>
            <a:pPr algn="ctr" indent="0" marL="0">
              <a:buNone/>
            </a:pPr>
            <a:r>
              <a:rPr lang="en-US" sz="1200" b="1" dirty="0">
                <a:solidFill>
                  <a:schemeClr val="accent2"/>
                </a:solidFill>
              </a:rPr>
              <a:t>Slow</a:t>
            </a:r>
            <a:endParaRPr lang="en-US" sz="12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74320"/>
          </a:xfrm>
          <a:prstGeom prst="rect">
            <a:avLst/>
          </a:prstGeom>
          <a:noFill/>
          <a:ln/>
        </p:spPr>
        <p:txBody>
          <a:bodyPr wrap="square" lIns="0" tIns="0" rIns="0" bIns="0" rtlCol="0"/>
          <a:lstStyle/>
          <a:p>
            <a:pPr indent="0" marL="0">
              <a:buNone/>
            </a:pPr>
            <a:r>
              <a:rPr lang="en-US" sz="1100" b="1" spc="200" kern="0" dirty="0">
                <a:solidFill>
                  <a:schemeClr val="accent5"/>
                </a:solidFill>
              </a:rPr>
              <a:t>SIFA · 40 S · WHAT THE DEVELOPER SEES</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What the developer sees</a:t>
            </a:r>
            <a:endParaRPr lang="en-US" sz="3200" dirty="0"/>
          </a:p>
        </p:txBody>
      </p:sp>
      <p:sp>
        <p:nvSpPr>
          <p:cNvPr id="4" name="Dashboard with outage banner frame"/>
          <p:cNvSpPr/>
          <p:nvPr/>
        </p:nvSpPr>
        <p:spPr>
          <a:xfrm>
            <a:off x="457200" y="1316736"/>
            <a:ext cx="4864608" cy="3081528"/>
          </a:xfrm>
          <a:prstGeom prst="roundRect">
            <a:avLst>
              <a:gd name="adj" fmla="val 2967"/>
            </a:avLst>
          </a:prstGeom>
          <a:solidFill>
            <a:schemeClr val="bg1"/>
          </a:solidFill>
          <a:ln w="9525">
            <a:solidFill>
              <a:schemeClr val="accent6"/>
            </a:solidFill>
            <a:prstDash val="solid"/>
          </a:ln>
          <a:effectLst>
            <a:outerShdw sx="100000" sy="100000" kx="0" ky="0" algn="bl" rotWithShape="0" blurRad="177800" dist="50800" dir="5400000">
              <a:srgbClr val="0B1020">
                <a:alpha val="18000"/>
              </a:srgbClr>
            </a:outerShdw>
          </a:effectLst>
        </p:spPr>
      </p:sp>
      <p:pic>
        <p:nvPicPr>
          <p:cNvPr id="5" name="Dashboard with outage banner" descr="Dashboard with outage banner">    </p:cNvPr>
          <p:cNvPicPr>
            <a:picLocks noChangeAspect="1"/>
          </p:cNvPicPr>
          <p:nvPr/>
        </p:nvPicPr>
        <p:blipFill>
          <a:blip r:embed="rId1"/>
          <a:stretch>
            <a:fillRect/>
          </a:stretch>
        </p:blipFill>
        <p:spPr>
          <a:xfrm>
            <a:off x="512064" y="1371600"/>
            <a:ext cx="4754880" cy="2971800"/>
          </a:xfrm>
          <a:prstGeom prst="rect">
            <a:avLst/>
          </a:prstGeom>
        </p:spPr>
      </p:pic>
      <p:sp>
        <p:nvSpPr>
          <p:cNvPr id="6" name="Banner caption"/>
          <p:cNvSpPr txBox="1"/>
          <p:nvPr/>
        </p:nvSpPr>
        <p:spPr>
          <a:xfrm>
            <a:off x="457200" y="4480560"/>
            <a:ext cx="4846320" cy="274320"/>
          </a:xfrm>
          <a:prstGeom prst="rect">
            <a:avLst/>
          </a:prstGeom>
          <a:noFill/>
          <a:ln/>
        </p:spPr>
        <p:txBody>
          <a:bodyPr wrap="square" lIns="0" tIns="0" rIns="0" bIns="0" rtlCol="0" anchor="ctr"/>
          <a:lstStyle/>
          <a:p>
            <a:pPr indent="0" marL="0">
              <a:buNone/>
            </a:pPr>
            <a:r>
              <a:rPr lang="en-US" sz="1100" i="1" dirty="0">
                <a:solidFill>
                  <a:schemeClr val="tx2"/>
                </a:solidFill>
              </a:rPr>
              <a:t>Laptop: the purple “It’s them, not you” banner</a:t>
            </a:r>
            <a:endParaRPr lang="en-US" sz="1100" dirty="0"/>
          </a:p>
        </p:txBody>
      </p:sp>
      <p:sp>
        <p:nvSpPr>
          <p:cNvPr id="7" name="Phone failure report frame"/>
          <p:cNvSpPr/>
          <p:nvPr/>
        </p:nvSpPr>
        <p:spPr>
          <a:xfrm>
            <a:off x="5522976" y="1316736"/>
            <a:ext cx="1856232" cy="3081528"/>
          </a:xfrm>
          <a:prstGeom prst="roundRect">
            <a:avLst>
              <a:gd name="adj" fmla="val 4926"/>
            </a:avLst>
          </a:prstGeom>
          <a:solidFill>
            <a:schemeClr val="bg1"/>
          </a:solidFill>
          <a:ln w="9525">
            <a:solidFill>
              <a:schemeClr val="accent6"/>
            </a:solidFill>
            <a:prstDash val="solid"/>
          </a:ln>
          <a:effectLst>
            <a:outerShdw sx="100000" sy="100000" kx="0" ky="0" algn="bl" rotWithShape="0" blurRad="177800" dist="50800" dir="5400000">
              <a:srgbClr val="0B1020">
                <a:alpha val="18000"/>
              </a:srgbClr>
            </a:outerShdw>
          </a:effectLst>
        </p:spPr>
      </p:sp>
      <p:pic>
        <p:nvPicPr>
          <p:cNvPr id="8" name="Phone failure report" descr="Phone failure report">    </p:cNvPr>
          <p:cNvPicPr>
            <a:picLocks noChangeAspect="1"/>
          </p:cNvPicPr>
          <p:nvPr/>
        </p:nvPicPr>
        <p:blipFill>
          <a:blip r:embed="rId2"/>
          <a:stretch>
            <a:fillRect/>
          </a:stretch>
        </p:blipFill>
        <p:spPr>
          <a:xfrm>
            <a:off x="5577840" y="1371600"/>
            <a:ext cx="1746504" cy="2971800"/>
          </a:xfrm>
          <a:prstGeom prst="rect">
            <a:avLst/>
          </a:prstGeom>
        </p:spPr>
      </p:pic>
      <p:sp>
        <p:nvSpPr>
          <p:cNvPr id="9" name="Phone caption"/>
          <p:cNvSpPr txBox="1"/>
          <p:nvPr/>
        </p:nvSpPr>
        <p:spPr>
          <a:xfrm>
            <a:off x="5486400" y="4480560"/>
            <a:ext cx="2011680" cy="274320"/>
          </a:xfrm>
          <a:prstGeom prst="rect">
            <a:avLst/>
          </a:prstGeom>
          <a:noFill/>
          <a:ln/>
        </p:spPr>
        <p:txBody>
          <a:bodyPr wrap="square" lIns="0" tIns="0" rIns="0" bIns="0" rtlCol="0" anchor="ctr"/>
          <a:lstStyle/>
          <a:p>
            <a:pPr indent="0" marL="0">
              <a:buNone/>
            </a:pPr>
            <a:r>
              <a:rPr lang="en-US" sz="1100" i="1" dirty="0">
                <a:solidFill>
                  <a:schemeClr val="tx2"/>
                </a:solidFill>
              </a:rPr>
              <a:t>Phone: the failure report</a:t>
            </a:r>
            <a:endParaRPr lang="en-US" sz="1100" dirty="0"/>
          </a:p>
        </p:txBody>
      </p:sp>
      <p:sp>
        <p:nvSpPr>
          <p:cNvPr id="10" name="Report notes"/>
          <p:cNvSpPr txBox="1"/>
          <p:nvPr/>
        </p:nvSpPr>
        <p:spPr>
          <a:xfrm>
            <a:off x="7589520" y="1371600"/>
            <a:ext cx="1097280" cy="2971800"/>
          </a:xfrm>
          <a:prstGeom prst="rect">
            <a:avLst/>
          </a:prstGeom>
          <a:noFill/>
          <a:ln/>
        </p:spPr>
        <p:txBody>
          <a:bodyPr wrap="square" lIns="0" tIns="0" rIns="0" bIns="0" rtlCol="0" anchor="t"/>
          <a:lstStyle/>
          <a:p>
            <a:pPr indent="0" marL="0">
              <a:buNone/>
            </a:pPr>
            <a:r>
              <a:rPr lang="en-US" sz="1200" b="1" dirty="0">
                <a:solidFill>
                  <a:schemeClr val="tx1"/>
                </a:solidFill>
              </a:rPr>
              <a:t>Verdict first</a:t>
            </a:r>
            <a:endParaRPr lang="en-US" sz="1200" dirty="0"/>
          </a:p>
          <a:p>
            <a:pPr indent="0" marL="0">
              <a:buNone/>
            </a:pPr>
            <a:r>
              <a:rPr lang="en-US" sz="1200" dirty="0">
                <a:solidFill>
                  <a:schemeClr val="tx2"/>
                </a:solidFill>
              </a:rPr>
              <a:t>them, you or unclear</a:t>
            </a:r>
            <a:endParaRPr lang="en-US" sz="1200" dirty="0"/>
          </a:p>
          <a:p>
            <a:pPr indent="0" marL="0">
              <a:buNone/>
            </a:pPr>
            <a:r>
              <a:rPr lang="en-US" sz="1200" dirty="0">
                <a:solidFill>
                  <a:schemeClr val="tx2"/>
                </a:solidFill>
              </a:rPr>
              <a:t> </a:t>
            </a:r>
            <a:endParaRPr lang="en-US" sz="1200" dirty="0"/>
          </a:p>
          <a:p>
            <a:pPr indent="0" marL="0">
              <a:buNone/>
            </a:pPr>
            <a:r>
              <a:rPr lang="en-US" sz="1200" b="1" dirty="0">
                <a:solidFill>
                  <a:schemeClr val="tx1"/>
                </a:solidFill>
              </a:rPr>
              <a:t>Then the evidence</a:t>
            </a:r>
            <a:endParaRPr lang="en-US" sz="1200" dirty="0"/>
          </a:p>
          <a:p>
            <a:pPr indent="0" marL="0">
              <a:buNone/>
            </a:pPr>
            <a:r>
              <a:rPr lang="en-US" sz="1200" dirty="0">
                <a:solidFill>
                  <a:schemeClr val="tx2"/>
                </a:solidFill>
              </a:rPr>
              <a:t>expected vs. actual, response body, next steps</a:t>
            </a:r>
            <a:endParaRPr lang="en-US" sz="1200" dirty="0"/>
          </a:p>
          <a:p>
            <a:pPr indent="0" marL="0">
              <a:buNone/>
            </a:pPr>
            <a:r>
              <a:rPr lang="en-US" sz="1200" dirty="0">
                <a:solidFill>
                  <a:schemeClr val="tx2"/>
                </a:solidFill>
              </a:rPr>
              <a:t> </a:t>
            </a:r>
            <a:endParaRPr lang="en-US" sz="1200" dirty="0"/>
          </a:p>
          <a:p>
            <a:pPr indent="0" marL="0">
              <a:buNone/>
            </a:pPr>
            <a:r>
              <a:rPr lang="en-US" sz="1200" b="1" dirty="0">
                <a:solidFill>
                  <a:schemeClr val="tx1"/>
                </a:solidFill>
              </a:rPr>
              <a:t>Updates live</a:t>
            </a:r>
            <a:endParaRPr lang="en-US" sz="1200" dirty="0"/>
          </a:p>
          <a:p>
            <a:pPr indent="0" marL="0">
              <a:buNone/>
            </a:pPr>
            <a:r>
              <a:rPr lang="en-US" sz="1200" dirty="0">
                <a:solidFill>
                  <a:schemeClr val="tx2"/>
                </a:solidFill>
              </a:rPr>
              <a:t>every 5 seconds</a:t>
            </a:r>
            <a:endParaRPr lang="en-US" sz="12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74320"/>
          </a:xfrm>
          <a:prstGeom prst="rect">
            <a:avLst/>
          </a:prstGeom>
          <a:noFill/>
          <a:ln/>
        </p:spPr>
        <p:txBody>
          <a:bodyPr wrap="square" lIns="0" tIns="0" rIns="0" bIns="0" rtlCol="0"/>
          <a:lstStyle/>
          <a:p>
            <a:pPr indent="0" marL="0">
              <a:buNone/>
            </a:pPr>
            <a:r>
              <a:rPr lang="en-US" sz="1100" b="1" spc="200" kern="0" dirty="0">
                <a:solidFill>
                  <a:schemeClr val="accent5"/>
                </a:solidFill>
              </a:rPr>
              <a:t>GISELE · 2 MIN · LIVE DEMO</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Live demo: three stories</a:t>
            </a:r>
            <a:endParaRPr lang="en-US" sz="3200" dirty="0"/>
          </a:p>
        </p:txBody>
      </p:sp>
      <p:sp>
        <p:nvSpPr>
          <p:cNvPr id="4" name="Story 1"/>
          <p:cNvSpPr/>
          <p:nvPr/>
        </p:nvSpPr>
        <p:spPr>
          <a:xfrm>
            <a:off x="457200" y="1371600"/>
            <a:ext cx="2606040" cy="2926080"/>
          </a:xfrm>
          <a:prstGeom prst="roundRect">
            <a:avLst>
              <a:gd name="adj" fmla="val 4211"/>
            </a:avLst>
          </a:prstGeom>
          <a:solidFill>
            <a:schemeClr val="bg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5" name="Story 1 number"/>
          <p:cNvSpPr/>
          <p:nvPr/>
        </p:nvSpPr>
        <p:spPr>
          <a:xfrm>
            <a:off x="685800" y="1572768"/>
            <a:ext cx="384048" cy="384048"/>
          </a:xfrm>
          <a:prstGeom prst="ellipse">
            <a:avLst/>
          </a:prstGeom>
          <a:solidFill>
            <a:schemeClr val="accent4"/>
          </a:solidFill>
          <a:ln w="12700">
            <a:solidFill>
              <a:schemeClr val="accent4"/>
            </a:solidFill>
            <a:prstDash val="solid"/>
          </a:ln>
        </p:spPr>
      </p:sp>
      <p:sp>
        <p:nvSpPr>
          <p:cNvPr id="6" name="Story 1 number label"/>
          <p:cNvSpPr txBox="1"/>
          <p:nvPr/>
        </p:nvSpPr>
        <p:spPr>
          <a:xfrm>
            <a:off x="685800" y="157276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7" name="Story 1 title"/>
          <p:cNvSpPr txBox="1"/>
          <p:nvPr/>
        </p:nvSpPr>
        <p:spPr>
          <a:xfrm>
            <a:off x="1188720" y="1572768"/>
            <a:ext cx="1737360" cy="384048"/>
          </a:xfrm>
          <a:prstGeom prst="rect">
            <a:avLst/>
          </a:prstGeom>
          <a:noFill/>
          <a:ln/>
        </p:spPr>
        <p:txBody>
          <a:bodyPr wrap="square" lIns="0" tIns="0" rIns="0" bIns="0" rtlCol="0" anchor="ctr"/>
          <a:lstStyle/>
          <a:p>
            <a:pPr indent="0" marL="0">
              <a:buNone/>
            </a:pPr>
            <a:r>
              <a:rPr lang="en-US" sz="1800" b="1" dirty="0">
                <a:solidFill>
                  <a:schemeClr val="tx1"/>
                </a:solidFill>
              </a:rPr>
              <a:t>It’s them</a:t>
            </a:r>
            <a:endParaRPr lang="en-US" sz="1800" dirty="0"/>
          </a:p>
        </p:txBody>
      </p:sp>
      <p:sp>
        <p:nvSpPr>
          <p:cNvPr id="8" name="Story 1 text"/>
          <p:cNvSpPr txBox="1"/>
          <p:nvPr/>
        </p:nvSpPr>
        <p:spPr>
          <a:xfrm>
            <a:off x="685800" y="2103120"/>
            <a:ext cx="2194560" cy="2103120"/>
          </a:xfrm>
          <a:prstGeom prst="rect">
            <a:avLst/>
          </a:prstGeom>
          <a:noFill/>
          <a:ln/>
        </p:spPr>
        <p:txBody>
          <a:bodyPr wrap="square" lIns="0" tIns="0" rIns="0" bIns="0" rtlCol="0" anchor="t"/>
          <a:lstStyle/>
          <a:p>
            <a:pPr indent="0" marL="0">
              <a:buNone/>
            </a:pPr>
            <a:r>
              <a:rPr lang="en-US" sz="1300" b="1" dirty="0">
                <a:solidFill>
                  <a:schemeClr val="accent4"/>
                </a:solidFill>
              </a:rPr>
              <a:t>Do</a:t>
            </a:r>
            <a:endParaRPr lang="en-US" sz="1300" dirty="0"/>
          </a:p>
          <a:p>
            <a:pPr indent="0" marL="0">
              <a:buNone/>
            </a:pPr>
            <a:r>
              <a:rPr lang="en-US" sz="1300" dirty="0">
                <a:solidFill>
                  <a:schemeClr val="tx2"/>
                </a:solidFill>
              </a:rPr>
              <a:t>Set M-Pesa to 503 error</a:t>
            </a:r>
            <a:endParaRPr lang="en-US" sz="1300" dirty="0"/>
          </a:p>
          <a:p>
            <a:pPr indent="0" marL="0">
              <a:buNone/>
            </a:pPr>
            <a:r>
              <a:rPr lang="en-US" sz="600" dirty="0">
                <a:solidFill>
                  <a:schemeClr val="tx2"/>
                </a:solidFill>
              </a:rPr>
              <a:t> </a:t>
            </a:r>
            <a:endParaRPr lang="en-US" sz="1300" dirty="0"/>
          </a:p>
          <a:p>
            <a:pPr indent="0" marL="0">
              <a:buNone/>
            </a:pPr>
            <a:r>
              <a:rPr lang="en-US" sz="1300" b="1" dirty="0">
                <a:solidFill>
                  <a:schemeClr val="accent4"/>
                </a:solidFill>
              </a:rPr>
              <a:t>What happens</a:t>
            </a:r>
            <a:endParaRPr lang="en-US" sz="1300" dirty="0"/>
          </a:p>
          <a:p>
            <a:pPr indent="0" marL="0">
              <a:buNone/>
            </a:pPr>
            <a:r>
              <a:rPr lang="en-US" sz="1300" dirty="0">
                <a:solidFill>
                  <a:schemeClr val="tx2"/>
                </a:solidFill>
              </a:rPr>
              <a:t>6 of 6 M-Pesa monitors from 4 developers fail at once</a:t>
            </a:r>
            <a:endParaRPr lang="en-US" sz="1300" dirty="0"/>
          </a:p>
          <a:p>
            <a:pPr indent="0" marL="0">
              <a:buNone/>
            </a:pPr>
            <a:r>
              <a:rPr lang="en-US" sz="600" dirty="0">
                <a:solidFill>
                  <a:schemeClr val="tx2"/>
                </a:solidFill>
              </a:rPr>
              <a:t> </a:t>
            </a:r>
            <a:endParaRPr lang="en-US" sz="1300" dirty="0"/>
          </a:p>
          <a:p>
            <a:pPr indent="0" marL="0">
              <a:buNone/>
            </a:pPr>
            <a:r>
              <a:rPr lang="en-US" sz="1300" b="1" dirty="0">
                <a:solidFill>
                  <a:schemeClr val="accent4"/>
                </a:solidFill>
              </a:rPr>
              <a:t>KingaAPI says</a:t>
            </a:r>
            <a:endParaRPr lang="en-US" sz="1300" dirty="0"/>
          </a:p>
          <a:p>
            <a:pPr indent="0" marL="0">
              <a:buNone/>
            </a:pPr>
            <a:r>
              <a:rPr lang="en-US" sz="1300" dirty="0">
                <a:solidFill>
                  <a:schemeClr val="tx2"/>
                </a:solidFill>
              </a:rPr>
              <a:t>Purple banner: “It’s them, not you.”</a:t>
            </a:r>
            <a:endParaRPr lang="en-US" sz="1300" dirty="0"/>
          </a:p>
        </p:txBody>
      </p:sp>
      <p:sp>
        <p:nvSpPr>
          <p:cNvPr id="9" name="Story 2"/>
          <p:cNvSpPr/>
          <p:nvPr/>
        </p:nvSpPr>
        <p:spPr>
          <a:xfrm>
            <a:off x="3264408" y="1371600"/>
            <a:ext cx="2606040" cy="2926080"/>
          </a:xfrm>
          <a:prstGeom prst="roundRect">
            <a:avLst>
              <a:gd name="adj" fmla="val 4211"/>
            </a:avLst>
          </a:prstGeom>
          <a:solidFill>
            <a:schemeClr val="bg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10" name="Story 2 number"/>
          <p:cNvSpPr/>
          <p:nvPr/>
        </p:nvSpPr>
        <p:spPr>
          <a:xfrm>
            <a:off x="3493008" y="1572768"/>
            <a:ext cx="384048" cy="384048"/>
          </a:xfrm>
          <a:prstGeom prst="ellipse">
            <a:avLst/>
          </a:prstGeom>
          <a:solidFill>
            <a:schemeClr val="accent3"/>
          </a:solidFill>
          <a:ln w="12700">
            <a:solidFill>
              <a:schemeClr val="accent3"/>
            </a:solidFill>
            <a:prstDash val="solid"/>
          </a:ln>
        </p:spPr>
      </p:sp>
      <p:sp>
        <p:nvSpPr>
          <p:cNvPr id="11" name="Story 2 number label"/>
          <p:cNvSpPr txBox="1"/>
          <p:nvPr/>
        </p:nvSpPr>
        <p:spPr>
          <a:xfrm>
            <a:off x="3493008" y="157276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Story 2 title"/>
          <p:cNvSpPr txBox="1"/>
          <p:nvPr/>
        </p:nvSpPr>
        <p:spPr>
          <a:xfrm>
            <a:off x="3995928" y="1572768"/>
            <a:ext cx="1737360" cy="384048"/>
          </a:xfrm>
          <a:prstGeom prst="rect">
            <a:avLst/>
          </a:prstGeom>
          <a:noFill/>
          <a:ln/>
        </p:spPr>
        <p:txBody>
          <a:bodyPr wrap="square" lIns="0" tIns="0" rIns="0" bIns="0" rtlCol="0" anchor="ctr"/>
          <a:lstStyle/>
          <a:p>
            <a:pPr indent="0" marL="0">
              <a:buNone/>
            </a:pPr>
            <a:r>
              <a:rPr lang="en-US" sz="1800" b="1" dirty="0">
                <a:solidFill>
                  <a:schemeClr val="tx1"/>
                </a:solidFill>
              </a:rPr>
              <a:t>It’s you</a:t>
            </a:r>
            <a:endParaRPr lang="en-US" sz="1800" dirty="0"/>
          </a:p>
        </p:txBody>
      </p:sp>
      <p:sp>
        <p:nvSpPr>
          <p:cNvPr id="13" name="Story 2 text"/>
          <p:cNvSpPr txBox="1"/>
          <p:nvPr/>
        </p:nvSpPr>
        <p:spPr>
          <a:xfrm>
            <a:off x="3493008" y="2103120"/>
            <a:ext cx="2194560" cy="2103120"/>
          </a:xfrm>
          <a:prstGeom prst="rect">
            <a:avLst/>
          </a:prstGeom>
          <a:noFill/>
          <a:ln/>
        </p:spPr>
        <p:txBody>
          <a:bodyPr wrap="square" lIns="0" tIns="0" rIns="0" bIns="0" rtlCol="0" anchor="t"/>
          <a:lstStyle/>
          <a:p>
            <a:pPr indent="0" marL="0">
              <a:buNone/>
            </a:pPr>
            <a:r>
              <a:rPr lang="en-US" sz="1300" b="1" dirty="0">
                <a:solidFill>
                  <a:schemeClr val="accent3"/>
                </a:solidFill>
              </a:rPr>
              <a:t>Do</a:t>
            </a:r>
            <a:endParaRPr lang="en-US" sz="1300" dirty="0"/>
          </a:p>
          <a:p>
            <a:pPr indent="0" marL="0">
              <a:buNone/>
            </a:pPr>
            <a:r>
              <a:rPr lang="en-US" sz="1300" dirty="0">
                <a:solidFill>
                  <a:schemeClr val="tx2"/>
                </a:solidFill>
              </a:rPr>
              <a:t>Break my key on MTN MoMo</a:t>
            </a:r>
            <a:endParaRPr lang="en-US" sz="1300" dirty="0"/>
          </a:p>
          <a:p>
            <a:pPr indent="0" marL="0">
              <a:buNone/>
            </a:pPr>
            <a:r>
              <a:rPr lang="en-US" sz="600" dirty="0">
                <a:solidFill>
                  <a:schemeClr val="tx2"/>
                </a:solidFill>
              </a:rPr>
              <a:t> </a:t>
            </a:r>
            <a:endParaRPr lang="en-US" sz="1300" dirty="0"/>
          </a:p>
          <a:p>
            <a:pPr indent="0" marL="0">
              <a:buNone/>
            </a:pPr>
            <a:r>
              <a:rPr lang="en-US" sz="1300" b="1" dirty="0">
                <a:solidFill>
                  <a:schemeClr val="accent3"/>
                </a:solidFill>
              </a:rPr>
              <a:t>What happens</a:t>
            </a:r>
            <a:endParaRPr lang="en-US" sz="1300" dirty="0"/>
          </a:p>
          <a:p>
            <a:pPr indent="0" marL="0">
              <a:buNone/>
            </a:pPr>
            <a:r>
              <a:rPr lang="en-US" sz="1300" dirty="0">
                <a:solidFill>
                  <a:schemeClr val="tx2"/>
                </a:solidFill>
              </a:rPr>
              <a:t>Only my monitor fails; 4 others from 3 developers are fine</a:t>
            </a:r>
            <a:endParaRPr lang="en-US" sz="1300" dirty="0"/>
          </a:p>
          <a:p>
            <a:pPr indent="0" marL="0">
              <a:buNone/>
            </a:pPr>
            <a:r>
              <a:rPr lang="en-US" sz="600" dirty="0">
                <a:solidFill>
                  <a:schemeClr val="tx2"/>
                </a:solidFill>
              </a:rPr>
              <a:t> </a:t>
            </a:r>
            <a:endParaRPr lang="en-US" sz="1300" dirty="0"/>
          </a:p>
          <a:p>
            <a:pPr indent="0" marL="0">
              <a:buNone/>
            </a:pPr>
            <a:r>
              <a:rPr lang="en-US" sz="1300" b="1" dirty="0">
                <a:solidFill>
                  <a:schemeClr val="accent3"/>
                </a:solidFill>
              </a:rPr>
              <a:t>KingaAPI says</a:t>
            </a:r>
            <a:endParaRPr lang="en-US" sz="1300" dirty="0"/>
          </a:p>
          <a:p>
            <a:pPr indent="0" marL="0">
              <a:buNone/>
            </a:pPr>
            <a:r>
              <a:rPr lang="en-US" sz="1300" dirty="0">
                <a:solidFill>
                  <a:schemeClr val="tx2"/>
                </a:solidFill>
              </a:rPr>
              <a:t>Verdict: “Probably your setup”</a:t>
            </a:r>
            <a:endParaRPr lang="en-US" sz="1300" dirty="0"/>
          </a:p>
        </p:txBody>
      </p:sp>
      <p:sp>
        <p:nvSpPr>
          <p:cNvPr id="14" name="Story 3"/>
          <p:cNvSpPr/>
          <p:nvPr/>
        </p:nvSpPr>
        <p:spPr>
          <a:xfrm>
            <a:off x="6071616" y="1371600"/>
            <a:ext cx="2606040" cy="2926080"/>
          </a:xfrm>
          <a:prstGeom prst="roundRect">
            <a:avLst>
              <a:gd name="adj" fmla="val 4211"/>
            </a:avLst>
          </a:prstGeom>
          <a:solidFill>
            <a:schemeClr val="bg1"/>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15" name="Story 3 number"/>
          <p:cNvSpPr/>
          <p:nvPr/>
        </p:nvSpPr>
        <p:spPr>
          <a:xfrm>
            <a:off x="6300216" y="1572768"/>
            <a:ext cx="384048" cy="384048"/>
          </a:xfrm>
          <a:prstGeom prst="ellipse">
            <a:avLst/>
          </a:prstGeom>
          <a:solidFill>
            <a:schemeClr val="accent2"/>
          </a:solidFill>
          <a:ln w="12700">
            <a:solidFill>
              <a:schemeClr val="accent2"/>
            </a:solidFill>
            <a:prstDash val="solid"/>
          </a:ln>
        </p:spPr>
      </p:sp>
      <p:sp>
        <p:nvSpPr>
          <p:cNvPr id="16" name="Story 3 number label"/>
          <p:cNvSpPr txBox="1"/>
          <p:nvPr/>
        </p:nvSpPr>
        <p:spPr>
          <a:xfrm>
            <a:off x="6300216" y="157276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Story 3 title"/>
          <p:cNvSpPr txBox="1"/>
          <p:nvPr/>
        </p:nvSpPr>
        <p:spPr>
          <a:xfrm>
            <a:off x="6803136" y="1572768"/>
            <a:ext cx="1737360" cy="384048"/>
          </a:xfrm>
          <a:prstGeom prst="rect">
            <a:avLst/>
          </a:prstGeom>
          <a:noFill/>
          <a:ln/>
        </p:spPr>
        <p:txBody>
          <a:bodyPr wrap="square" lIns="0" tIns="0" rIns="0" bIns="0" rtlCol="0" anchor="ctr"/>
          <a:lstStyle/>
          <a:p>
            <a:pPr indent="0" marL="0">
              <a:buNone/>
            </a:pPr>
            <a:r>
              <a:rPr lang="en-US" sz="1800" b="1" dirty="0">
                <a:solidFill>
                  <a:schemeClr val="tx1"/>
                </a:solidFill>
              </a:rPr>
              <a:t>Silent breakage</a:t>
            </a:r>
            <a:endParaRPr lang="en-US" sz="1800" dirty="0"/>
          </a:p>
        </p:txBody>
      </p:sp>
      <p:sp>
        <p:nvSpPr>
          <p:cNvPr id="18" name="Story 3 text"/>
          <p:cNvSpPr txBox="1"/>
          <p:nvPr/>
        </p:nvSpPr>
        <p:spPr>
          <a:xfrm>
            <a:off x="6300216" y="2103120"/>
            <a:ext cx="2194560" cy="2103120"/>
          </a:xfrm>
          <a:prstGeom prst="rect">
            <a:avLst/>
          </a:prstGeom>
          <a:noFill/>
          <a:ln/>
        </p:spPr>
        <p:txBody>
          <a:bodyPr wrap="square" lIns="0" tIns="0" rIns="0" bIns="0" rtlCol="0" anchor="t"/>
          <a:lstStyle/>
          <a:p>
            <a:pPr indent="0" marL="0">
              <a:buNone/>
            </a:pPr>
            <a:r>
              <a:rPr lang="en-US" sz="1300" b="1" dirty="0">
                <a:solidFill>
                  <a:schemeClr val="accent2"/>
                </a:solidFill>
              </a:rPr>
              <a:t>Do</a:t>
            </a:r>
            <a:endParaRPr lang="en-US" sz="1300" dirty="0"/>
          </a:p>
          <a:p>
            <a:pPr indent="0" marL="0">
              <a:buNone/>
            </a:pPr>
            <a:r>
              <a:rPr lang="en-US" sz="1300" dirty="0">
                <a:solidFill>
                  <a:schemeClr val="tx2"/>
                </a:solidFill>
              </a:rPr>
              <a:t>Paystack schema change</a:t>
            </a:r>
            <a:endParaRPr lang="en-US" sz="1300" dirty="0"/>
          </a:p>
          <a:p>
            <a:pPr indent="0" marL="0">
              <a:buNone/>
            </a:pPr>
            <a:r>
              <a:rPr lang="en-US" sz="600" dirty="0">
                <a:solidFill>
                  <a:schemeClr val="tx2"/>
                </a:solidFill>
              </a:rPr>
              <a:t> </a:t>
            </a:r>
            <a:endParaRPr lang="en-US" sz="1300" dirty="0"/>
          </a:p>
          <a:p>
            <a:pPr indent="0" marL="0">
              <a:buNone/>
            </a:pPr>
            <a:r>
              <a:rPr lang="en-US" sz="1300" b="1" dirty="0">
                <a:solidFill>
                  <a:schemeClr val="accent2"/>
                </a:solidFill>
              </a:rPr>
              <a:t>What happens</a:t>
            </a:r>
            <a:endParaRPr lang="en-US" sz="1300" dirty="0"/>
          </a:p>
          <a:p>
            <a:pPr indent="0" marL="0">
              <a:buNone/>
            </a:pPr>
            <a:r>
              <a:rPr lang="en-US" sz="1300" dirty="0">
                <a:solidFill>
                  <a:schemeClr val="tx2"/>
                </a:solidFill>
              </a:rPr>
              <a:t>Still HTTP 200, but the JSON fields changed</a:t>
            </a:r>
            <a:endParaRPr lang="en-US" sz="1300" dirty="0"/>
          </a:p>
          <a:p>
            <a:pPr indent="0" marL="0">
              <a:buNone/>
            </a:pPr>
            <a:r>
              <a:rPr lang="en-US" sz="600" dirty="0">
                <a:solidFill>
                  <a:schemeClr val="tx2"/>
                </a:solidFill>
              </a:rPr>
              <a:t> </a:t>
            </a:r>
            <a:endParaRPr lang="en-US" sz="1300" dirty="0"/>
          </a:p>
          <a:p>
            <a:pPr indent="0" marL="0">
              <a:buNone/>
            </a:pPr>
            <a:r>
              <a:rPr lang="en-US" sz="1300" b="1" dirty="0">
                <a:solidFill>
                  <a:schemeClr val="accent2"/>
                </a:solidFill>
              </a:rPr>
              <a:t>KingaAPI says</a:t>
            </a:r>
            <a:endParaRPr lang="en-US" sz="1300" dirty="0"/>
          </a:p>
          <a:p>
            <a:pPr indent="0" marL="0">
              <a:buNone/>
            </a:pPr>
            <a:r>
              <a:rPr lang="en-US" sz="1300" dirty="0">
                <a:solidFill>
                  <a:schemeClr val="tx2"/>
                </a:solidFill>
              </a:rPr>
              <a:t>Report lists exactly which fields are missing</a:t>
            </a:r>
            <a:endParaRPr lang="en-US" sz="1300" dirty="0"/>
          </a:p>
        </p:txBody>
      </p:sp>
      <p:sp>
        <p:nvSpPr>
          <p:cNvPr id="19" name="Backup note"/>
          <p:cNvSpPr txBox="1"/>
          <p:nvPr/>
        </p:nvSpPr>
        <p:spPr>
          <a:xfrm>
            <a:off x="457200" y="4462272"/>
            <a:ext cx="7772400" cy="274320"/>
          </a:xfrm>
          <a:prstGeom prst="rect">
            <a:avLst/>
          </a:prstGeom>
          <a:noFill/>
          <a:ln/>
        </p:spPr>
        <p:txBody>
          <a:bodyPr wrap="square" lIns="0" tIns="0" rIns="0" bIns="0" rtlCol="0" anchor="ctr"/>
          <a:lstStyle/>
          <a:p>
            <a:pPr indent="0" marL="0">
              <a:buNone/>
            </a:pPr>
            <a:r>
              <a:rPr lang="en-US" sz="1100" i="1" dirty="0">
                <a:solidFill>
                  <a:schemeClr val="tx2"/>
                </a:solidFill>
              </a:rPr>
              <a:t>Runs offline on the laptop with built-in mock providers. Backup video: docs/demo/kinga-demo-backup.mp4</a:t>
            </a:r>
            <a:endParaRPr lang="en-US" sz="11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5486400" cy="274320"/>
          </a:xfrm>
          <a:prstGeom prst="rect">
            <a:avLst/>
          </a:prstGeom>
          <a:noFill/>
          <a:ln/>
        </p:spPr>
        <p:txBody>
          <a:bodyPr wrap="square" lIns="0" tIns="0" rIns="0" bIns="0" rtlCol="0"/>
          <a:lstStyle/>
          <a:p>
            <a:pPr indent="0" marL="0">
              <a:buNone/>
            </a:pPr>
            <a:r>
              <a:rPr lang="en-US" sz="1100" b="1" spc="200" kern="0" dirty="0">
                <a:solidFill>
                  <a:schemeClr val="accent5"/>
                </a:solidFill>
              </a:rPr>
              <a:t>GISELE · 20 S · WHY IT’S DIFFERENT</a:t>
            </a:r>
            <a:endParaRPr lang="en-US" sz="1100" dirty="0"/>
          </a:p>
        </p:txBody>
      </p:sp>
      <p:sp>
        <p:nvSpPr>
          <p:cNvPr id="3" name="Text 0"/>
          <p:cNvSpPr/>
          <p:nvPr>
            <p:ph idx="101"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Why KingaAPI is different</a:t>
            </a:r>
            <a:endParaRPr lang="en-US" sz="3200" dirty="0"/>
          </a:p>
        </p:txBody>
      </p:sp>
      <p:sp>
        <p:nvSpPr>
          <p:cNvPr id="4" name="Generic tools card"/>
          <p:cNvSpPr/>
          <p:nvPr/>
        </p:nvSpPr>
        <p:spPr>
          <a:xfrm>
            <a:off x="457200" y="1371600"/>
            <a:ext cx="3977640" cy="2240280"/>
          </a:xfrm>
          <a:prstGeom prst="roundRect">
            <a:avLst>
              <a:gd name="adj" fmla="val 4898"/>
            </a:avLst>
          </a:prstGeom>
          <a:solidFill>
            <a:schemeClr val="bg2"/>
          </a:solidFill>
          <a:ln w="9525">
            <a:solidFill>
              <a:schemeClr val="accent6"/>
            </a:solidFill>
            <a:prstDash val="solid"/>
          </a:ln>
          <a:effectLst>
            <a:outerShdw sx="100000" sy="100000" kx="0" ky="0" algn="bl" rotWithShape="0" blurRad="127000" dist="38100" dir="5400000">
              <a:srgbClr val="0B1020">
                <a:alpha val="12000"/>
              </a:srgbClr>
            </a:outerShdw>
          </a:effectLst>
        </p:spPr>
      </p:sp>
      <p:sp>
        <p:nvSpPr>
          <p:cNvPr id="5" name="Generic title"/>
          <p:cNvSpPr txBox="1"/>
          <p:nvPr/>
        </p:nvSpPr>
        <p:spPr>
          <a:xfrm>
            <a:off x="685800" y="1554480"/>
            <a:ext cx="3566160" cy="365760"/>
          </a:xfrm>
          <a:prstGeom prst="rect">
            <a:avLst/>
          </a:prstGeom>
          <a:noFill/>
          <a:ln/>
        </p:spPr>
        <p:txBody>
          <a:bodyPr wrap="square" lIns="0" tIns="0" rIns="0" bIns="0" rtlCol="0" anchor="ctr"/>
          <a:lstStyle/>
          <a:p>
            <a:pPr indent="0" marL="0">
              <a:buNone/>
            </a:pPr>
            <a:r>
              <a:rPr lang="en-US" sz="1800" b="1" dirty="0">
                <a:solidFill>
                  <a:schemeClr val="tx2"/>
                </a:solidFill>
              </a:rPr>
              <a:t>Generic uptime tools</a:t>
            </a:r>
            <a:endParaRPr lang="en-US" sz="1800" dirty="0"/>
          </a:p>
        </p:txBody>
      </p:sp>
      <p:sp>
        <p:nvSpPr>
          <p:cNvPr id="6" name="Generic list"/>
          <p:cNvSpPr txBox="1"/>
          <p:nvPr/>
        </p:nvSpPr>
        <p:spPr>
          <a:xfrm>
            <a:off x="685800" y="2011680"/>
            <a:ext cx="356616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See only your own endpoint</a:t>
            </a:r>
            <a:endParaRPr lang="en-US" sz="1500" dirty="0"/>
          </a:p>
          <a:p>
            <a:pPr marL="342900" indent="-342900">
              <a:spcAft>
                <a:spcPts val="800"/>
              </a:spcAft>
              <a:buSzPct val="100000"/>
              <a:buChar char="•"/>
            </a:pPr>
            <a:r>
              <a:rPr lang="en-US" sz="1500" dirty="0">
                <a:solidFill>
                  <a:schemeClr val="tx2"/>
                </a:solidFill>
              </a:rPr>
              <a:t>Answer “is it up?”</a:t>
            </a:r>
            <a:endParaRPr lang="en-US" sz="1500" dirty="0"/>
          </a:p>
          <a:p>
            <a:pPr marL="342900" indent="-342900">
              <a:spcAft>
                <a:spcPts val="800"/>
              </a:spcAft>
              <a:buSzPct val="100000"/>
              <a:buChar char="•"/>
            </a:pPr>
            <a:r>
              <a:rPr lang="en-US" sz="1500" dirty="0">
                <a:solidFill>
                  <a:schemeClr val="tx2"/>
                </a:solidFill>
              </a:rPr>
              <a:t>Check the status code only</a:t>
            </a:r>
            <a:endParaRPr lang="en-US" sz="1500" dirty="0"/>
          </a:p>
          <a:p>
            <a:pPr marL="342900" indent="-342900">
              <a:spcAft>
                <a:spcPts val="800"/>
              </a:spcAft>
              <a:buSzPct val="100000"/>
              <a:buChar char="•"/>
            </a:pPr>
            <a:r>
              <a:rPr lang="en-US" sz="1500" dirty="0">
                <a:solidFill>
                  <a:schemeClr val="tx2"/>
                </a:solidFill>
              </a:rPr>
              <a:t>Generic, worldwide services</a:t>
            </a:r>
            <a:endParaRPr lang="en-US" sz="1500" dirty="0"/>
          </a:p>
        </p:txBody>
      </p:sp>
      <p:sp>
        <p:nvSpPr>
          <p:cNvPr id="7" name="KingaAPI card"/>
          <p:cNvSpPr/>
          <p:nvPr/>
        </p:nvSpPr>
        <p:spPr>
          <a:xfrm>
            <a:off x="4709160" y="1371600"/>
            <a:ext cx="3977640" cy="2240280"/>
          </a:xfrm>
          <a:prstGeom prst="roundRect">
            <a:avLst>
              <a:gd name="adj" fmla="val 4898"/>
            </a:avLst>
          </a:prstGeom>
          <a:solidFill>
            <a:schemeClr val="tx1"/>
          </a:solidFill>
          <a:ln w="9525">
            <a:solidFill>
              <a:schemeClr val="accent6"/>
            </a:solidFill>
            <a:prstDash val="solid"/>
          </a:ln>
          <a:effectLst>
            <a:outerShdw sx="100000" sy="100000" kx="0" ky="0" algn="bl" rotWithShape="0" blurRad="127000" dist="38100" dir="5400000">
              <a:srgbClr val="0B1020">
                <a:alpha val="12000"/>
              </a:srgbClr>
            </a:outerShdw>
          </a:effectLst>
        </p:spPr>
      </p:sp>
      <p:pic>
        <p:nvPicPr>
          <p:cNvPr id="8" name="KingaAPI logo small" descr="KingaAPI logo">    </p:cNvPr>
          <p:cNvPicPr>
            <a:picLocks noChangeAspect="1"/>
          </p:cNvPicPr>
          <p:nvPr/>
        </p:nvPicPr>
        <p:blipFill>
          <a:blip r:embed="rId1"/>
          <a:stretch>
            <a:fillRect/>
          </a:stretch>
        </p:blipFill>
        <p:spPr>
          <a:xfrm>
            <a:off x="4937760" y="1554480"/>
            <a:ext cx="365760" cy="365760"/>
          </a:xfrm>
          <a:prstGeom prst="rect">
            <a:avLst/>
          </a:prstGeom>
        </p:spPr>
      </p:pic>
      <p:sp>
        <p:nvSpPr>
          <p:cNvPr id="9" name="KingaAPI title"/>
          <p:cNvSpPr txBox="1"/>
          <p:nvPr/>
        </p:nvSpPr>
        <p:spPr>
          <a:xfrm>
            <a:off x="5394960" y="1554480"/>
            <a:ext cx="3108960" cy="365760"/>
          </a:xfrm>
          <a:prstGeom prst="rect">
            <a:avLst/>
          </a:prstGeom>
          <a:noFill/>
          <a:ln/>
        </p:spPr>
        <p:txBody>
          <a:bodyPr wrap="square" lIns="0" tIns="0" rIns="0" bIns="0" rtlCol="0" anchor="ctr"/>
          <a:lstStyle/>
          <a:p>
            <a:pPr indent="0" marL="0">
              <a:buNone/>
            </a:pPr>
            <a:r>
              <a:rPr lang="en-US" sz="1800" b="1" dirty="0">
                <a:solidFill>
                  <a:schemeClr val="bg1"/>
                </a:solidFill>
              </a:rPr>
              <a:t>KingaAPI</a:t>
            </a:r>
            <a:endParaRPr lang="en-US" sz="1800" dirty="0"/>
          </a:p>
        </p:txBody>
      </p:sp>
      <p:sp>
        <p:nvSpPr>
          <p:cNvPr id="10" name="KingaAPI list"/>
          <p:cNvSpPr txBox="1"/>
          <p:nvPr/>
        </p:nvSpPr>
        <p:spPr>
          <a:xfrm>
            <a:off x="4937760" y="2011680"/>
            <a:ext cx="356616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Sees every developer on the provider</a:t>
            </a:r>
            <a:endParaRPr lang="en-US" sz="1500" dirty="0"/>
          </a:p>
          <a:p>
            <a:pPr marL="342900" indent="-342900">
              <a:spcAft>
                <a:spcPts val="800"/>
              </a:spcAft>
              <a:buSzPct val="100000"/>
              <a:buChar char="•"/>
            </a:pPr>
            <a:r>
              <a:rPr lang="en-US" sz="1500" dirty="0">
                <a:solidFill>
                  <a:schemeClr val="bg1"/>
                </a:solidFill>
              </a:rPr>
              <a:t>Answers “whose problem is it?”</a:t>
            </a:r>
            <a:endParaRPr lang="en-US" sz="1500" dirty="0"/>
          </a:p>
          <a:p>
            <a:pPr marL="342900" indent="-342900">
              <a:spcAft>
                <a:spcPts val="800"/>
              </a:spcAft>
              <a:buSzPct val="100000"/>
              <a:buChar char="•"/>
            </a:pPr>
            <a:r>
              <a:rPr lang="en-US" sz="1500" dirty="0">
                <a:solidFill>
                  <a:schemeClr val="bg1"/>
                </a:solidFill>
              </a:rPr>
              <a:t>Checks status, speed and JSON fields</a:t>
            </a:r>
            <a:endParaRPr lang="en-US" sz="1500" dirty="0"/>
          </a:p>
          <a:p>
            <a:pPr marL="342900" indent="-342900">
              <a:spcAft>
                <a:spcPts val="800"/>
              </a:spcAft>
              <a:buSzPct val="100000"/>
              <a:buChar char="•"/>
            </a:pPr>
            <a:r>
              <a:rPr lang="en-US" sz="1500" dirty="0">
                <a:solidFill>
                  <a:schemeClr val="bg1"/>
                </a:solidFill>
              </a:rPr>
              <a:t>Built for African payment providers</a:t>
            </a:r>
            <a:endParaRPr lang="en-US" sz="1500" dirty="0"/>
          </a:p>
        </p:txBody>
      </p:sp>
      <p:sp>
        <p:nvSpPr>
          <p:cNvPr id="11" name="Provider list"/>
          <p:cNvSpPr txBox="1"/>
          <p:nvPr/>
        </p:nvSpPr>
        <p:spPr>
          <a:xfrm>
            <a:off x="457200" y="3931920"/>
            <a:ext cx="8229600" cy="320040"/>
          </a:xfrm>
          <a:prstGeom prst="rect">
            <a:avLst/>
          </a:prstGeom>
          <a:noFill/>
          <a:ln/>
        </p:spPr>
        <p:txBody>
          <a:bodyPr wrap="square" lIns="0" tIns="0" rIns="0" bIns="0" rtlCol="0" anchor="ctr"/>
          <a:lstStyle/>
          <a:p>
            <a:pPr algn="ctr" indent="0" marL="0">
              <a:buNone/>
            </a:pPr>
            <a:r>
              <a:rPr lang="en-US" sz="1300" b="1" dirty="0">
                <a:solidFill>
                  <a:schemeClr val="accent5"/>
                </a:solidFill>
              </a:rPr>
              <a:t>M-Pesa  ·  MTN MoMo  ·  Airtel Money  ·  Orange Money  ·  Flutterwave  ·  Paystack  ·  Wave</a:t>
            </a:r>
            <a:endParaRPr lang="en-US" sz="13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ext steps title"/>
          <p:cNvSpPr txBox="1"/>
          <p:nvPr/>
        </p:nvSpPr>
        <p:spPr>
          <a:xfrm>
            <a:off x="548640" y="502920"/>
            <a:ext cx="8046720" cy="731520"/>
          </a:xfrm>
          <a:prstGeom prst="rect">
            <a:avLst/>
          </a:prstGeom>
          <a:noFill/>
          <a:ln/>
        </p:spPr>
        <p:txBody>
          <a:bodyPr wrap="square" lIns="0" tIns="0" rIns="0" bIns="0" rtlCol="0" anchor="ctr"/>
          <a:lstStyle/>
          <a:p>
            <a:pPr indent="0" marL="0">
              <a:buNone/>
            </a:pPr>
            <a:r>
              <a:rPr lang="en-US" sz="4000" b="1" dirty="0">
                <a:solidFill>
                  <a:schemeClr val="bg1"/>
                </a:solidFill>
                <a:latin typeface="Arial" pitchFamily="34" charset="0"/>
                <a:ea typeface="Arial" pitchFamily="34" charset="-122"/>
                <a:cs typeface="Arial" pitchFamily="34" charset="-120"/>
              </a:rPr>
              <a:t>Next steps</a:t>
            </a:r>
            <a:endParaRPr lang="en-US" sz="4000" dirty="0"/>
          </a:p>
        </p:txBody>
      </p:sp>
      <p:sp>
        <p:nvSpPr>
          <p:cNvPr id="3" name="Next 1"/>
          <p:cNvSpPr/>
          <p:nvPr/>
        </p:nvSpPr>
        <p:spPr>
          <a:xfrm>
            <a:off x="548640" y="1508760"/>
            <a:ext cx="384048" cy="384048"/>
          </a:xfrm>
          <a:prstGeom prst="ellipse">
            <a:avLst/>
          </a:prstGeom>
          <a:solidFill>
            <a:schemeClr val="accent1"/>
          </a:solidFill>
          <a:ln w="12700">
            <a:solidFill>
              <a:schemeClr val="accent1"/>
            </a:solidFill>
            <a:prstDash val="solid"/>
          </a:ln>
        </p:spPr>
      </p:sp>
      <p:sp>
        <p:nvSpPr>
          <p:cNvPr id="4" name="Next 1 label"/>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Next 1 title"/>
          <p:cNvSpPr txBox="1"/>
          <p:nvPr/>
        </p:nvSpPr>
        <p:spPr>
          <a:xfrm>
            <a:off x="1097280" y="1472184"/>
            <a:ext cx="3291840" cy="365760"/>
          </a:xfrm>
          <a:prstGeom prst="rect">
            <a:avLst/>
          </a:prstGeom>
          <a:noFill/>
          <a:ln/>
        </p:spPr>
        <p:txBody>
          <a:bodyPr wrap="square" lIns="0" tIns="0" rIns="0" bIns="0" rtlCol="0" anchor="ctr"/>
          <a:lstStyle/>
          <a:p>
            <a:pPr indent="0" marL="0">
              <a:buNone/>
            </a:pPr>
            <a:r>
              <a:rPr lang="en-US" sz="1800" b="1" dirty="0">
                <a:solidFill>
                  <a:schemeClr val="bg1"/>
                </a:solidFill>
              </a:rPr>
              <a:t>Real accounts</a:t>
            </a:r>
            <a:endParaRPr lang="en-US" sz="1800" dirty="0"/>
          </a:p>
        </p:txBody>
      </p:sp>
      <p:sp>
        <p:nvSpPr>
          <p:cNvPr id="6" name="Next 1 text"/>
          <p:cNvSpPr txBox="1"/>
          <p:nvPr/>
        </p:nvSpPr>
        <p:spPr>
          <a:xfrm>
            <a:off x="1097280" y="1837944"/>
            <a:ext cx="3291840" cy="457200"/>
          </a:xfrm>
          <a:prstGeom prst="rect">
            <a:avLst/>
          </a:prstGeom>
          <a:noFill/>
          <a:ln/>
        </p:spPr>
        <p:txBody>
          <a:bodyPr wrap="square" lIns="0" tIns="0" rIns="0" bIns="0" rtlCol="0" anchor="t"/>
          <a:lstStyle/>
          <a:p>
            <a:pPr indent="0" marL="0">
              <a:buNone/>
            </a:pPr>
            <a:r>
              <a:rPr lang="en-US" sz="1400" dirty="0">
                <a:solidFill>
                  <a:schemeClr val="bg2"/>
                </a:solidFill>
              </a:rPr>
              <a:t>Sign-in, teams and encrypted API keys</a:t>
            </a:r>
            <a:endParaRPr lang="en-US" sz="1400" dirty="0"/>
          </a:p>
        </p:txBody>
      </p:sp>
      <p:sp>
        <p:nvSpPr>
          <p:cNvPr id="7" name="Next 2"/>
          <p:cNvSpPr/>
          <p:nvPr/>
        </p:nvSpPr>
        <p:spPr>
          <a:xfrm>
            <a:off x="4663440" y="1508760"/>
            <a:ext cx="384048" cy="384048"/>
          </a:xfrm>
          <a:prstGeom prst="ellipse">
            <a:avLst/>
          </a:prstGeom>
          <a:solidFill>
            <a:schemeClr val="accent2"/>
          </a:solidFill>
          <a:ln w="12700">
            <a:solidFill>
              <a:schemeClr val="accent2"/>
            </a:solidFill>
            <a:prstDash val="solid"/>
          </a:ln>
        </p:spPr>
      </p:sp>
      <p:sp>
        <p:nvSpPr>
          <p:cNvPr id="8" name="Next 2 label"/>
          <p:cNvSpPr txBox="1"/>
          <p:nvPr/>
        </p:nvSpPr>
        <p:spPr>
          <a:xfrm>
            <a:off x="4663440" y="150876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Next 2 title"/>
          <p:cNvSpPr txBox="1"/>
          <p:nvPr/>
        </p:nvSpPr>
        <p:spPr>
          <a:xfrm>
            <a:off x="5212080" y="1472184"/>
            <a:ext cx="3291840" cy="365760"/>
          </a:xfrm>
          <a:prstGeom prst="rect">
            <a:avLst/>
          </a:prstGeom>
          <a:noFill/>
          <a:ln/>
        </p:spPr>
        <p:txBody>
          <a:bodyPr wrap="square" lIns="0" tIns="0" rIns="0" bIns="0" rtlCol="0" anchor="ctr"/>
          <a:lstStyle/>
          <a:p>
            <a:pPr indent="0" marL="0">
              <a:buNone/>
            </a:pPr>
            <a:r>
              <a:rPr lang="en-US" sz="1800" b="1" dirty="0">
                <a:solidFill>
                  <a:schemeClr val="bg1"/>
                </a:solidFill>
              </a:rPr>
              <a:t>SMS and WhatsApp alerts</a:t>
            </a:r>
            <a:endParaRPr lang="en-US" sz="1800" dirty="0"/>
          </a:p>
        </p:txBody>
      </p:sp>
      <p:sp>
        <p:nvSpPr>
          <p:cNvPr id="10" name="Next 2 text"/>
          <p:cNvSpPr txBox="1"/>
          <p:nvPr/>
        </p:nvSpPr>
        <p:spPr>
          <a:xfrm>
            <a:off x="5212080" y="1837944"/>
            <a:ext cx="3291840" cy="457200"/>
          </a:xfrm>
          <a:prstGeom prst="rect">
            <a:avLst/>
          </a:prstGeom>
          <a:noFill/>
          <a:ln/>
        </p:spPr>
        <p:txBody>
          <a:bodyPr wrap="square" lIns="0" tIns="0" rIns="0" bIns="0" rtlCol="0" anchor="t"/>
          <a:lstStyle/>
          <a:p>
            <a:pPr indent="0" marL="0">
              <a:buNone/>
            </a:pPr>
            <a:r>
              <a:rPr lang="en-US" sz="1400" dirty="0">
                <a:solidFill>
                  <a:schemeClr val="bg2"/>
                </a:solidFill>
              </a:rPr>
              <a:t>Reach developers where they already are</a:t>
            </a:r>
            <a:endParaRPr lang="en-US" sz="1400" dirty="0"/>
          </a:p>
        </p:txBody>
      </p:sp>
      <p:sp>
        <p:nvSpPr>
          <p:cNvPr id="11" name="Next 3"/>
          <p:cNvSpPr/>
          <p:nvPr/>
        </p:nvSpPr>
        <p:spPr>
          <a:xfrm>
            <a:off x="548640" y="2651760"/>
            <a:ext cx="384048" cy="384048"/>
          </a:xfrm>
          <a:prstGeom prst="ellipse">
            <a:avLst/>
          </a:prstGeom>
          <a:solidFill>
            <a:schemeClr val="accent3"/>
          </a:solidFill>
          <a:ln w="12700">
            <a:solidFill>
              <a:schemeClr val="accent3"/>
            </a:solidFill>
            <a:prstDash val="solid"/>
          </a:ln>
        </p:spPr>
      </p:sp>
      <p:sp>
        <p:nvSpPr>
          <p:cNvPr id="12" name="Next 3 label"/>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Next 3 title"/>
          <p:cNvSpPr txBox="1"/>
          <p:nvPr/>
        </p:nvSpPr>
        <p:spPr>
          <a:xfrm>
            <a:off x="1097280" y="2615184"/>
            <a:ext cx="3291840" cy="365760"/>
          </a:xfrm>
          <a:prstGeom prst="rect">
            <a:avLst/>
          </a:prstGeom>
          <a:noFill/>
          <a:ln/>
        </p:spPr>
        <p:txBody>
          <a:bodyPr wrap="square" lIns="0" tIns="0" rIns="0" bIns="0" rtlCol="0" anchor="ctr"/>
          <a:lstStyle/>
          <a:p>
            <a:pPr indent="0" marL="0">
              <a:buNone/>
            </a:pPr>
            <a:r>
              <a:rPr lang="en-US" sz="1800" b="1" dirty="0">
                <a:solidFill>
                  <a:schemeClr val="bg1"/>
                </a:solidFill>
              </a:rPr>
              <a:t>Public status pages</a:t>
            </a:r>
            <a:endParaRPr lang="en-US" sz="1800" dirty="0"/>
          </a:p>
        </p:txBody>
      </p:sp>
      <p:sp>
        <p:nvSpPr>
          <p:cNvPr id="14" name="Next 3 text"/>
          <p:cNvSpPr txBox="1"/>
          <p:nvPr/>
        </p:nvSpPr>
        <p:spPr>
          <a:xfrm>
            <a:off x="1097280" y="2980944"/>
            <a:ext cx="3291840" cy="457200"/>
          </a:xfrm>
          <a:prstGeom prst="rect">
            <a:avLst/>
          </a:prstGeom>
          <a:noFill/>
          <a:ln/>
        </p:spPr>
        <p:txBody>
          <a:bodyPr wrap="square" lIns="0" tIns="0" rIns="0" bIns="0" rtlCol="0" anchor="t"/>
          <a:lstStyle/>
          <a:p>
            <a:pPr indent="0" marL="0">
              <a:buNone/>
            </a:pPr>
            <a:r>
              <a:rPr lang="en-US" sz="1400" dirty="0">
                <a:solidFill>
                  <a:schemeClr val="bg2"/>
                </a:solidFill>
              </a:rPr>
              <a:t>One live page per provider, built from community data</a:t>
            </a:r>
            <a:endParaRPr lang="en-US" sz="1400" dirty="0"/>
          </a:p>
        </p:txBody>
      </p:sp>
      <p:sp>
        <p:nvSpPr>
          <p:cNvPr id="15" name="Next 4"/>
          <p:cNvSpPr/>
          <p:nvPr/>
        </p:nvSpPr>
        <p:spPr>
          <a:xfrm>
            <a:off x="4663440" y="2651760"/>
            <a:ext cx="384048" cy="384048"/>
          </a:xfrm>
          <a:prstGeom prst="ellipse">
            <a:avLst/>
          </a:prstGeom>
          <a:solidFill>
            <a:schemeClr val="accent4"/>
          </a:solidFill>
          <a:ln w="12700">
            <a:solidFill>
              <a:schemeClr val="accent4"/>
            </a:solidFill>
            <a:prstDash val="solid"/>
          </a:ln>
        </p:spPr>
      </p:sp>
      <p:sp>
        <p:nvSpPr>
          <p:cNvPr id="16" name="Next 4 label"/>
          <p:cNvSpPr txBox="1"/>
          <p:nvPr/>
        </p:nvSpPr>
        <p:spPr>
          <a:xfrm>
            <a:off x="4663440" y="265176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Next 4 title"/>
          <p:cNvSpPr txBox="1"/>
          <p:nvPr/>
        </p:nvSpPr>
        <p:spPr>
          <a:xfrm>
            <a:off x="5212080" y="2615184"/>
            <a:ext cx="3291840" cy="365760"/>
          </a:xfrm>
          <a:prstGeom prst="rect">
            <a:avLst/>
          </a:prstGeom>
          <a:noFill/>
          <a:ln/>
        </p:spPr>
        <p:txBody>
          <a:bodyPr wrap="square" lIns="0" tIns="0" rIns="0" bIns="0" rtlCol="0" anchor="ctr"/>
          <a:lstStyle/>
          <a:p>
            <a:pPr indent="0" marL="0">
              <a:buNone/>
            </a:pPr>
            <a:r>
              <a:rPr lang="en-US" sz="1800" b="1" dirty="0">
                <a:solidFill>
                  <a:schemeClr val="bg1"/>
                </a:solidFill>
              </a:rPr>
              <a:t>More providers</a:t>
            </a:r>
            <a:endParaRPr lang="en-US" sz="1800" dirty="0"/>
          </a:p>
        </p:txBody>
      </p:sp>
      <p:sp>
        <p:nvSpPr>
          <p:cNvPr id="18" name="Next 4 text"/>
          <p:cNvSpPr txBox="1"/>
          <p:nvPr/>
        </p:nvSpPr>
        <p:spPr>
          <a:xfrm>
            <a:off x="5212080" y="2980944"/>
            <a:ext cx="3291840" cy="457200"/>
          </a:xfrm>
          <a:prstGeom prst="rect">
            <a:avLst/>
          </a:prstGeom>
          <a:noFill/>
          <a:ln/>
        </p:spPr>
        <p:txBody>
          <a:bodyPr wrap="square" lIns="0" tIns="0" rIns="0" bIns="0" rtlCol="0" anchor="t"/>
          <a:lstStyle/>
          <a:p>
            <a:pPr indent="0" marL="0">
              <a:buNone/>
            </a:pPr>
            <a:r>
              <a:rPr lang="en-US" sz="1400" dirty="0">
                <a:solidFill>
                  <a:schemeClr val="bg2"/>
                </a:solidFill>
              </a:rPr>
              <a:t>Chipper Cash, MTN in more countries, banks</a:t>
            </a:r>
            <a:endParaRPr lang="en-US" sz="1400" dirty="0"/>
          </a:p>
        </p:txBody>
      </p:sp>
      <p:sp>
        <p:nvSpPr>
          <p:cNvPr id="19" name="Thank you"/>
          <p:cNvSpPr txBox="1"/>
          <p:nvPr/>
        </p:nvSpPr>
        <p:spPr>
          <a:xfrm>
            <a:off x="548640" y="3977640"/>
            <a:ext cx="3657600"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Thank you</a:t>
            </a:r>
            <a:endParaRPr lang="en-US" sz="2800" dirty="0"/>
          </a:p>
        </p:txBody>
      </p:sp>
      <p:sp>
        <p:nvSpPr>
          <p:cNvPr id="20" name="Repository"/>
          <p:cNvSpPr txBox="1"/>
          <p:nvPr/>
        </p:nvSpPr>
        <p:spPr>
          <a:xfrm>
            <a:off x="4480560" y="4069080"/>
            <a:ext cx="4114800" cy="365760"/>
          </a:xfrm>
          <a:prstGeom prst="rect">
            <a:avLst/>
          </a:prstGeom>
          <a:noFill/>
          <a:ln/>
        </p:spPr>
        <p:txBody>
          <a:bodyPr wrap="square" lIns="0" tIns="0" rIns="0" bIns="0" rtlCol="0" anchor="ctr"/>
          <a:lstStyle/>
          <a:p>
            <a:pPr algn="r" indent="0" marL="0">
              <a:buNone/>
            </a:pPr>
            <a:r>
              <a:rPr lang="en-US" sz="1400" u="sng" dirty="0">
                <a:solidFill>
                  <a:schemeClr val="bg2"/>
                </a:solidFill>
                <a:hlinkClick r:id="rId1" invalidUrl="" action="" tgtFrame="" tooltip="" history="1" highlightClick="0" endSnd="0">
                  <a:extLst>
                    <a:ext uri="{A12FA001-AC4F-418D-AE19-62706E023703}">
                      <ahyp:hlinkClr xmlns:ahyp="http://schemas.microsoft.com/office/drawing/2018/hyperlinkcolor" val="tx"/>
                    </a:ext>
                  </a:extLst>
                </a:hlinkClick>
              </a:rPr>
              <a:t>github.com/Ideborah-tech/kinga-api</a:t>
            </a:r>
            <a:endParaRPr lang="en-US" sz="1400" dirty="0"/>
          </a:p>
        </p:txBody>
      </p:sp>
      <p:sp>
        <p:nvSpPr>
          <p:cNvPr id="22" name="Text 0"/>
          <p:cNvSpPr/>
          <p:nvPr>
            <p:ph idx="100" type="title" hasCustomPrompt="1"/>
          </p:nvPr>
        </p:nvSpPr>
        <p:spPr>
          <a:xfrm>
            <a:off x="548640" y="1874520"/>
            <a:ext cx="8046720" cy="914400"/>
          </a:xfrm>
          <a:prstGeom prst="rect">
            <a:avLst/>
          </a:prstGeom>
          <a:noFill/>
          <a:ln/>
        </p:spPr>
        <p:txBody>
          <a:bodyPr wrap="square" lIns="0" tIns="0" rIns="0" bIns="0" rtlCol="0" anchor="ctr"/>
          <a:lstStyle/>
          <a:p>
            <a:pPr algn="l" indent="0" marL="0">
              <a:buNone/>
            </a:pPr>
            <a:endParaRPr lang="en-US" sz="5400" dirty="0"/>
          </a:p>
        </p:txBody>
      </p:sp>
      <p:sp>
        <p:nvSpPr>
          <p:cNvPr id="2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indent="0" marL="0">
              <a:buNone/>
            </a:pPr>
            <a:endParaRPr lang="en-US" sz="2000" dirty="0"/>
          </a:p>
        </p:txBody>
      </p:sp>
    </p:spTree>
  </p:cSld>
  <p:clrMapOvr>
    <a:masterClrMapping/>
  </p:clrMapOvr>
</p:sld>
</file>

<file path=ppt/theme/theme1.xml><?xml version="1.0" encoding="utf-8"?>
<a:theme xmlns:a="http://schemas.openxmlformats.org/drawingml/2006/main" name="KingaAPI Aurora">
  <a:themeElements>
    <a:clrScheme name="KingaAPI Aurora">
      <a:dk1>
        <a:srgbClr val="0B1020"/>
      </a:dk1>
      <a:lt1>
        <a:srgbClr val="FFFFFF"/>
      </a:lt1>
      <a:dk2>
        <a:srgbClr val="475569"/>
      </a:dk2>
      <a:lt2>
        <a:srgbClr val="F1F5F9"/>
      </a:lt2>
      <a:accent1>
        <a:srgbClr val="10B981"/>
      </a:accent1>
      <a:accent2>
        <a:srgbClr val="F59E0B"/>
      </a:accent2>
      <a:accent3>
        <a:srgbClr val="F43F5E"/>
      </a:accent3>
      <a:accent4>
        <a:srgbClr val="7C3AED"/>
      </a:accent4>
      <a:accent5>
        <a:srgbClr val="059669"/>
      </a:accent5>
      <a:accent6>
        <a:srgbClr val="E2E8F0"/>
      </a:accent6>
      <a:hlink>
        <a:srgbClr val="059669"/>
      </a:hlink>
      <a:folHlink>
        <a:srgbClr val="7C3AED"/>
      </a:folHlink>
    </a:clrScheme>
    <a:fontScheme name="KingaAPI Auror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KingaAPI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KingaAPI pitch</dc:title>
  <dc:subject>PptxGenJS Presentation</dc:subject>
  <dc:creator>Gisele Umutoni</dc:creator>
  <cp:lastModifiedBy>Gisele Umutoni</cp:lastModifiedBy>
  <cp:revision>1</cp:revision>
  <dcterms:created xsi:type="dcterms:W3CDTF">2026-10-25T12:12:34Z</dcterms:created>
  <dcterms:modified xsi:type="dcterms:W3CDTF">2026-10-25T12:12:34Z</dcterms:modified>
</cp:coreProperties>
</file>